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23"/>
  </p:notesMasterIdLst>
  <p:handoutMasterIdLst>
    <p:handoutMasterId r:id="rId24"/>
  </p:handoutMasterIdLst>
  <p:sldIdLst>
    <p:sldId id="280" r:id="rId2"/>
    <p:sldId id="516" r:id="rId3"/>
    <p:sldId id="494" r:id="rId4"/>
    <p:sldId id="495" r:id="rId5"/>
    <p:sldId id="503" r:id="rId6"/>
    <p:sldId id="511" r:id="rId7"/>
    <p:sldId id="512" r:id="rId8"/>
    <p:sldId id="513" r:id="rId9"/>
    <p:sldId id="499" r:id="rId10"/>
    <p:sldId id="504" r:id="rId11"/>
    <p:sldId id="505" r:id="rId12"/>
    <p:sldId id="506" r:id="rId13"/>
    <p:sldId id="500" r:id="rId14"/>
    <p:sldId id="501" r:id="rId15"/>
    <p:sldId id="502" r:id="rId16"/>
    <p:sldId id="507" r:id="rId17"/>
    <p:sldId id="508" r:id="rId18"/>
    <p:sldId id="509" r:id="rId19"/>
    <p:sldId id="510" r:id="rId20"/>
    <p:sldId id="515" r:id="rId21"/>
    <p:sldId id="514" r:id="rId22"/>
  </p:sldIdLst>
  <p:sldSz cx="9144000" cy="5143500" type="screen16x9"/>
  <p:notesSz cx="6858000" cy="9144000"/>
  <p:embeddedFontLst>
    <p:embeddedFont>
      <p:font typeface="Barlow Semi Condensed" panose="00000506000000000000" pitchFamily="2" charset="0"/>
      <p:regular r:id="rId25"/>
      <p:bold r:id="rId26"/>
      <p:italic r:id="rId27"/>
      <p:boldItalic r:id="rId28"/>
    </p:embeddedFont>
    <p:embeddedFont>
      <p:font typeface="Barlow Semi Condensed Medium" panose="00000606000000000000" pitchFamily="2" charset="0"/>
      <p:regular r:id="rId29"/>
      <p:bold r:id="rId30"/>
      <p:italic r:id="rId31"/>
      <p:boldItalic r:id="rId32"/>
    </p:embeddedFont>
    <p:embeddedFont>
      <p:font typeface="DM Sans" pitchFamily="2" charset="0"/>
      <p:regular r:id="rId33"/>
      <p:bold r:id="rId34"/>
      <p:italic r:id="rId35"/>
      <p:boldItalic r:id="rId36"/>
    </p:embeddedFont>
    <p:embeddedFont>
      <p:font typeface="Fjalla One" panose="02000506040000020004" pitchFamily="2" charset="0"/>
      <p:regular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494949"/>
    <a:srgbClr val="4C729B"/>
    <a:srgbClr val="02ABA9"/>
    <a:srgbClr val="AB0204"/>
    <a:srgbClr val="1D3D4D"/>
    <a:srgbClr val="CBEEED"/>
    <a:srgbClr val="3D8087"/>
    <a:srgbClr val="C3F7EE"/>
    <a:srgbClr val="D3E1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07CB13-C2B9-4D47-E537-DD70A60BF63E}" v="8" dt="2024-03-20T08:13:58.489"/>
    <p1510:client id="{D4E2623E-1DA4-FA7F-1CC1-8A48F43EA846}" v="139" dt="2024-03-20T08:13:41.260"/>
    <p1510:client id="{E8F091B9-3C74-7D4D-83DA-FB37D03D5949}" v="2253" dt="2024-03-20T13:51:26.525"/>
  </p1510:revLst>
</p1510:revInfo>
</file>

<file path=ppt/tableStyles.xml><?xml version="1.0" encoding="utf-8"?>
<a:tblStyleLst xmlns:a="http://schemas.openxmlformats.org/drawingml/2006/main" def="{CC3BA22F-71E4-47E5-99B9-F2F8DAF312CF}">
  <a:tblStyle styleId="{CC3BA22F-71E4-47E5-99B9-F2F8DAF312C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5758FB7-9AC5-4552-8A53-C91805E547FA}" styleName="Stile con tema 1 - Color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34" autoAdjust="0"/>
    <p:restoredTop sz="86323" autoAdjust="0"/>
  </p:normalViewPr>
  <p:slideViewPr>
    <p:cSldViewPr snapToGrid="0">
      <p:cViewPr varScale="1">
        <p:scale>
          <a:sx n="94" d="100"/>
          <a:sy n="94" d="100"/>
        </p:scale>
        <p:origin x="13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9D4E64F8-F9A3-26F2-C588-049E4C8AC30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3B14BD4-9691-7C2A-67BD-05C0A751328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7FB79B-0DBD-5841-AA43-8F90EC3DAA2C}" type="datetimeFigureOut">
              <a:rPr lang="it-IT" smtClean="0"/>
              <a:t>09/11/2025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08648EC-F735-5A42-2638-4A3D6CF6E9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E870EDD-218A-7DF9-98CB-F958703BC4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6FB05E-4C9C-554F-832A-0BD2B181B73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615593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718269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36200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F9474-041D-1552-0369-A9530A86E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010E043-FC08-3AAF-84AE-60DD62EF21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3CD2791-741A-3D64-89FA-E8F71C9CAA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Font typeface="Arial" panose="020B0604020202020204" pitchFamily="34" charset="0"/>
              <a:buNone/>
            </a:pP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1312731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93D46-206C-4F97-37BB-815828B57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24255C8-26A6-61AE-0352-8846AAE489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740CF00-3907-77E8-0555-468981ED31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973655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19762-0729-3A53-F961-A1B6AB563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C8D72F7-88BF-6571-A3C4-77F4C28501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D702343-5204-0D0C-23C2-4EA2A481F8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40681703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A47B0-12FA-1D65-7771-4AE7D9461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F3D4887-02FC-1CFB-89DB-45F60D76AD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A2AA51C-55B5-C970-2232-428D55959F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5975452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1004C-A9E3-EA80-81D0-E0860E9D3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15B32E4-258D-EBDD-1BC7-B3F329631F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C467FFC-527A-9B37-AB3E-05331AF386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8104560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FF675-0666-BC62-19E6-459E8575F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6AA5886-7404-ACCB-3100-08B2BA596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F1ED213-50AB-CCE1-B47B-687F1E5A5D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702536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1423A-2CED-09B6-C535-661B81206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CE68E98-4454-4C52-859B-637D308001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EC97D5D-2520-CC1B-1226-1BA340E539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466274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7F610-A6DF-2594-61CF-F82267E4A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34E7474-C3F9-A623-08FA-9AD7C9C251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691510B-5910-F8A4-FAD3-15A726458E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8721453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49928-3EDA-4005-FD0F-F54DB6BB9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2A66826-6BC8-F11B-E503-56DC0076FE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3980499-B6A5-F802-6BA8-82BFFDF337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0113509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7193E-1831-B502-6580-AE15CB3E8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B4420A2-C0C6-42B4-7975-6FE2B2920E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DD37718-BBE9-5312-2D8D-D35BB30018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2919933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BCFAE-C7E9-40C5-2351-44EEAB7BE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E2BF7F9-F603-AB8C-B3E9-74EED75560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977F3B7-8CF9-4F1B-AE30-2A982678D9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9799147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D4003-44BD-0264-C112-343096292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507C6D0-726E-B3AC-9279-9FDB5869C4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DC87843-079D-9453-600C-5447148938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011898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020DB-FCAB-6313-4483-FA1E84BE5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D0D8B68-BA34-2FA6-BD8D-CC5325B433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1772D38-900C-7F2C-050B-01EF64592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2901645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FD05B-11A7-2AAB-FB75-CE261B4D2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337932E-A1C4-A081-8B94-7A2599D872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3825E0C-4D45-EE63-90FA-C726579A98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39309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 hasCustomPrompt="1"/>
          </p:nvPr>
        </p:nvSpPr>
        <p:spPr>
          <a:xfrm>
            <a:off x="1714551" y="1891225"/>
            <a:ext cx="6798405" cy="190351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it-IT"/>
              <a:t>A </a:t>
            </a:r>
            <a:r>
              <a:rPr lang="it-IT" err="1"/>
              <a:t>very</a:t>
            </a:r>
            <a:r>
              <a:rPr lang="it-IT"/>
              <a:t> long </a:t>
            </a:r>
            <a:r>
              <a:rPr lang="it-IT" err="1"/>
              <a:t>title</a:t>
            </a:r>
            <a:r>
              <a:rPr lang="it-IT"/>
              <a:t> for </a:t>
            </a:r>
            <a:r>
              <a:rPr lang="it-IT" err="1"/>
              <a:t>my</a:t>
            </a:r>
            <a:r>
              <a:rPr lang="it-IT"/>
              <a:t> </a:t>
            </a:r>
            <a:r>
              <a:rPr lang="it-IT" err="1"/>
              <a:t>beatiful</a:t>
            </a:r>
            <a:r>
              <a:rPr lang="it-IT"/>
              <a:t> </a:t>
            </a:r>
            <a:r>
              <a:rPr lang="it-IT" err="1"/>
              <a:t>presentation</a:t>
            </a:r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ubTitle" idx="1" hasCustomPrompt="1"/>
          </p:nvPr>
        </p:nvSpPr>
        <p:spPr>
          <a:xfrm>
            <a:off x="5470350" y="3793794"/>
            <a:ext cx="3042606" cy="8239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000">
                <a:solidFill>
                  <a:srgbClr val="02ABA9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it-IT"/>
              <a:t>Biagio Boi</a:t>
            </a:r>
          </a:p>
          <a:p>
            <a:r>
              <a:rPr lang="it-IT" err="1"/>
              <a:t>Mat</a:t>
            </a:r>
            <a:r>
              <a:rPr lang="it-IT"/>
              <a:t>. 05121 05125</a:t>
            </a:r>
            <a:endParaRPr/>
          </a:p>
        </p:txBody>
      </p:sp>
      <p:pic>
        <p:nvPicPr>
          <p:cNvPr id="2" name="Immagine 1" descr="Immagine che contiene schermata, orologio, Carattere&#10;&#10;Descrizione generata automaticamente">
            <a:extLst>
              <a:ext uri="{FF2B5EF4-FFF2-40B4-BE49-F238E27FC236}">
                <a16:creationId xmlns:a16="http://schemas.microsoft.com/office/drawing/2014/main" id="{068197D9-A436-8C0D-1A18-5E9BE53635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24780" y="239523"/>
            <a:ext cx="1294440" cy="482444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44D10FF3-2EC3-0CB8-A823-82ADF08D373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78998" y="129175"/>
            <a:ext cx="935744" cy="935744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BF3608BF-A810-6590-8C17-59E86B2BE73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056" b="95694" l="10000" r="90000">
                        <a14:foregroundMark x1="39766" y1="12500" x2="54297" y2="9306"/>
                        <a14:foregroundMark x1="54297" y1="9306" x2="57422" y2="9583"/>
                        <a14:foregroundMark x1="47500" y1="3056" x2="47500" y2="3056"/>
                        <a14:foregroundMark x1="26719" y1="75417" x2="30391" y2="83750"/>
                        <a14:foregroundMark x1="27422" y1="86250" x2="38203" y2="88750"/>
                        <a14:foregroundMark x1="75078" y1="77639" x2="74766" y2="87639"/>
                        <a14:foregroundMark x1="73906" y1="91528" x2="61250" y2="956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18608" y="161447"/>
            <a:ext cx="1606172" cy="903472"/>
          </a:xfrm>
          <a:prstGeom prst="rect">
            <a:avLst/>
          </a:prstGeom>
        </p:spPr>
      </p:pic>
      <p:sp>
        <p:nvSpPr>
          <p:cNvPr id="46" name="Segnaposto testo 45">
            <a:extLst>
              <a:ext uri="{FF2B5EF4-FFF2-40B4-BE49-F238E27FC236}">
                <a16:creationId xmlns:a16="http://schemas.microsoft.com/office/drawing/2014/main" id="{FD013874-4A0C-2C2C-61C8-ED950823D9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14500" y="3794125"/>
            <a:ext cx="3755850" cy="823913"/>
          </a:xfrm>
          <a:prstGeom prst="rect">
            <a:avLst/>
          </a:prstGeom>
        </p:spPr>
        <p:txBody>
          <a:bodyPr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lang="it-IT" sz="2000" b="0" i="0" u="none" strike="noStrike" cap="none" dirty="0">
                <a:solidFill>
                  <a:srgbClr val="02ABA9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</a:lstStyle>
          <a:p>
            <a:pPr lvl="0"/>
            <a:r>
              <a:rPr lang="it-IT"/>
              <a:t>Prof. </a:t>
            </a:r>
            <a:r>
              <a:rPr lang="it-IT" err="1"/>
              <a:t>Christiancarmine</a:t>
            </a:r>
            <a:r>
              <a:rPr lang="it-IT"/>
              <a:t> Esposito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924F62F-76EB-A2B2-2615-07E1D4A4A50C}"/>
              </a:ext>
            </a:extLst>
          </p:cNvPr>
          <p:cNvSpPr txBox="1"/>
          <p:nvPr userDrawn="1"/>
        </p:nvSpPr>
        <p:spPr>
          <a:xfrm>
            <a:off x="3483314" y="726696"/>
            <a:ext cx="218361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100" dirty="0">
                <a:solidFill>
                  <a:schemeClr val="bg2"/>
                </a:solidFill>
                <a:latin typeface="Fjalla One" panose="02000506040000020004" pitchFamily="2" charset="0"/>
              </a:rPr>
              <a:t>Hardware </a:t>
            </a:r>
            <a:r>
              <a:rPr lang="it-IT" sz="1100" dirty="0" err="1">
                <a:solidFill>
                  <a:schemeClr val="bg2"/>
                </a:solidFill>
                <a:latin typeface="Fjalla One" panose="02000506040000020004" pitchFamily="2" charset="0"/>
              </a:rPr>
              <a:t>Assisted</a:t>
            </a:r>
            <a:r>
              <a:rPr lang="it-IT" sz="1100" dirty="0">
                <a:solidFill>
                  <a:schemeClr val="bg2"/>
                </a:solidFill>
                <a:latin typeface="Fjalla One" panose="02000506040000020004" pitchFamily="2" charset="0"/>
              </a:rPr>
              <a:t> and </a:t>
            </a:r>
          </a:p>
          <a:p>
            <a:pPr algn="ctr"/>
            <a:r>
              <a:rPr lang="it-IT" sz="1100" dirty="0">
                <a:solidFill>
                  <a:schemeClr val="bg2"/>
                </a:solidFill>
                <a:latin typeface="Fjalla One" panose="02000506040000020004" pitchFamily="2" charset="0"/>
              </a:rPr>
              <a:t>Blockchain </a:t>
            </a:r>
            <a:r>
              <a:rPr lang="it-IT" sz="1100" dirty="0" err="1">
                <a:solidFill>
                  <a:schemeClr val="bg2"/>
                </a:solidFill>
                <a:latin typeface="Fjalla One" panose="02000506040000020004" pitchFamily="2" charset="0"/>
              </a:rPr>
              <a:t>Empowered</a:t>
            </a:r>
            <a:r>
              <a:rPr lang="it-IT" sz="1100" dirty="0">
                <a:solidFill>
                  <a:schemeClr val="bg2"/>
                </a:solidFill>
                <a:latin typeface="Fjalla One" panose="02000506040000020004" pitchFamily="2" charset="0"/>
              </a:rPr>
              <a:t> Security Lab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1ACCF3-D90D-BA33-6F17-F757BAFB6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pic>
        <p:nvPicPr>
          <p:cNvPr id="3" name="Immagine 2" descr="Immagine che contiene schermata, orologio, Carattere&#10;&#10;Descrizione generata automaticamente">
            <a:extLst>
              <a:ext uri="{FF2B5EF4-FFF2-40B4-BE49-F238E27FC236}">
                <a16:creationId xmlns:a16="http://schemas.microsoft.com/office/drawing/2014/main" id="{59813476-F5E5-00AB-8E7C-384642645D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03942" y="4836193"/>
            <a:ext cx="712320" cy="265485"/>
          </a:xfrm>
          <a:prstGeom prst="rect">
            <a:avLst/>
          </a:prstGeom>
        </p:spPr>
      </p:pic>
      <p:cxnSp>
        <p:nvCxnSpPr>
          <p:cNvPr id="4" name="Connettore 1 3">
            <a:extLst>
              <a:ext uri="{FF2B5EF4-FFF2-40B4-BE49-F238E27FC236}">
                <a16:creationId xmlns:a16="http://schemas.microsoft.com/office/drawing/2014/main" id="{ECAB28A1-8193-1E4F-3FC1-5E37FEC14EAC}"/>
              </a:ext>
            </a:extLst>
          </p:cNvPr>
          <p:cNvCxnSpPr>
            <a:cxnSpLocks/>
          </p:cNvCxnSpPr>
          <p:nvPr userDrawn="1"/>
        </p:nvCxnSpPr>
        <p:spPr>
          <a:xfrm>
            <a:off x="0" y="4738334"/>
            <a:ext cx="9144000" cy="0"/>
          </a:xfrm>
          <a:prstGeom prst="line">
            <a:avLst/>
          </a:prstGeom>
          <a:ln>
            <a:solidFill>
              <a:srgbClr val="02AB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EE6BD28F-EADF-5CED-D12A-D9D5272428BC}"/>
              </a:ext>
            </a:extLst>
          </p:cNvPr>
          <p:cNvCxnSpPr>
            <a:cxnSpLocks/>
          </p:cNvCxnSpPr>
          <p:nvPr userDrawn="1"/>
        </p:nvCxnSpPr>
        <p:spPr>
          <a:xfrm>
            <a:off x="8162692" y="4738334"/>
            <a:ext cx="0" cy="415525"/>
          </a:xfrm>
          <a:prstGeom prst="line">
            <a:avLst/>
          </a:prstGeom>
          <a:ln>
            <a:solidFill>
              <a:srgbClr val="02AB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Segnaposto contenuto 32">
            <a:extLst>
              <a:ext uri="{FF2B5EF4-FFF2-40B4-BE49-F238E27FC236}">
                <a16:creationId xmlns:a16="http://schemas.microsoft.com/office/drawing/2014/main" id="{DF9ACE27-1332-463D-8EAF-93D55F6DE02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6480" y="4829390"/>
            <a:ext cx="7954963" cy="250642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Fjalla One" panose="02000506040000020004" pitchFamily="2" charset="0"/>
              </a:defRPr>
            </a:lvl1pPr>
            <a:lvl2pPr>
              <a:defRPr sz="900">
                <a:latin typeface="Fjalla One" panose="02000506040000020004" pitchFamily="2" charset="0"/>
              </a:defRPr>
            </a:lvl2pPr>
            <a:lvl3pPr>
              <a:defRPr sz="900">
                <a:latin typeface="Fjalla One" panose="02000506040000020004" pitchFamily="2" charset="0"/>
              </a:defRPr>
            </a:lvl3pPr>
            <a:lvl4pPr>
              <a:defRPr sz="900">
                <a:latin typeface="Fjalla One" panose="02000506040000020004" pitchFamily="2" charset="0"/>
              </a:defRPr>
            </a:lvl4pPr>
            <a:lvl5pPr>
              <a:defRPr sz="900">
                <a:latin typeface="Fjalla One" panose="02000506040000020004" pitchFamily="2" charset="0"/>
              </a:defRPr>
            </a:lvl5pPr>
          </a:lstStyle>
          <a:p>
            <a:pPr lvl="0"/>
            <a:r>
              <a:rPr lang="it-IT"/>
              <a:t>Nome Cognome – Titolo della Tesi - Email</a:t>
            </a:r>
          </a:p>
        </p:txBody>
      </p:sp>
    </p:spTree>
    <p:extLst>
      <p:ext uri="{BB962C8B-B14F-4D97-AF65-F5344CB8AC3E}">
        <p14:creationId xmlns:p14="http://schemas.microsoft.com/office/powerpoint/2010/main" val="3681004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of text" userDrawn="1">
  <p:cSld name="CUSTOM_2"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5"/>
          <p:cNvSpPr txBox="1">
            <a:spLocks noGrp="1"/>
          </p:cNvSpPr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7" name="Google Shape;667;p15"/>
          <p:cNvSpPr txBox="1">
            <a:spLocks noGrp="1"/>
          </p:cNvSpPr>
          <p:nvPr>
            <p:ph type="subTitle" idx="1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2ABA9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68" name="Google Shape;668;p15"/>
          <p:cNvSpPr txBox="1">
            <a:spLocks noGrp="1"/>
          </p:cNvSpPr>
          <p:nvPr>
            <p:ph type="subTitle" idx="2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69" name="Google Shape;669;p15"/>
          <p:cNvSpPr txBox="1">
            <a:spLocks noGrp="1"/>
          </p:cNvSpPr>
          <p:nvPr>
            <p:ph type="subTitle" idx="3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2ABA9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0" name="Google Shape;670;p15"/>
          <p:cNvSpPr txBox="1">
            <a:spLocks noGrp="1"/>
          </p:cNvSpPr>
          <p:nvPr>
            <p:ph type="subTitle" idx="4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71" name="Google Shape;671;p15"/>
          <p:cNvSpPr txBox="1">
            <a:spLocks noGrp="1"/>
          </p:cNvSpPr>
          <p:nvPr>
            <p:ph type="subTitle" idx="5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2ABA9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2" name="Google Shape;672;p15"/>
          <p:cNvSpPr txBox="1">
            <a:spLocks noGrp="1"/>
          </p:cNvSpPr>
          <p:nvPr>
            <p:ph type="subTitle" idx="6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73" name="Google Shape;673;p15"/>
          <p:cNvSpPr txBox="1">
            <a:spLocks noGrp="1"/>
          </p:cNvSpPr>
          <p:nvPr>
            <p:ph type="subTitle" idx="7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2ABA9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4" name="Google Shape;674;p15"/>
          <p:cNvSpPr txBox="1">
            <a:spLocks noGrp="1"/>
          </p:cNvSpPr>
          <p:nvPr>
            <p:ph type="subTitle" idx="8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675" name="Google Shape;675;p15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6" name="Google Shape;676;p15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7" name="Google Shape;677;p15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78" name="Google Shape;678;p15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679" name="Google Shape;679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02AB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3" name="Google Shape;683;p15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684" name="Google Shape;684;p1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02AB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02AB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94" name="Google Shape;694;p15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95" name="Google Shape;695;p15"/>
          <p:cNvGrpSpPr/>
          <p:nvPr/>
        </p:nvGrpSpPr>
        <p:grpSpPr>
          <a:xfrm>
            <a:off x="7824237" y="210099"/>
            <a:ext cx="581800" cy="582350"/>
            <a:chOff x="8064275" y="887850"/>
            <a:chExt cx="581800" cy="582350"/>
          </a:xfrm>
        </p:grpSpPr>
        <p:sp>
          <p:nvSpPr>
            <p:cNvPr id="696" name="Google Shape;696;p1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02AB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02AB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2" name="Google Shape;702;p15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703" name="Google Shape;703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02AB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Immagine 1" descr="Immagine che contiene schermata, orologio, Carattere&#10;&#10;Descrizione generata automaticamente">
            <a:extLst>
              <a:ext uri="{FF2B5EF4-FFF2-40B4-BE49-F238E27FC236}">
                <a16:creationId xmlns:a16="http://schemas.microsoft.com/office/drawing/2014/main" id="{6E2241B8-546F-7DAD-9644-B96791ECE9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03942" y="4836193"/>
            <a:ext cx="712320" cy="265485"/>
          </a:xfrm>
          <a:prstGeom prst="rect">
            <a:avLst/>
          </a:prstGeom>
        </p:spPr>
      </p:pic>
      <p:cxnSp>
        <p:nvCxnSpPr>
          <p:cNvPr id="3" name="Connettore 1 2">
            <a:extLst>
              <a:ext uri="{FF2B5EF4-FFF2-40B4-BE49-F238E27FC236}">
                <a16:creationId xmlns:a16="http://schemas.microsoft.com/office/drawing/2014/main" id="{BDEC27E8-C116-948F-F676-0BC22D592B9E}"/>
              </a:ext>
            </a:extLst>
          </p:cNvPr>
          <p:cNvCxnSpPr>
            <a:cxnSpLocks/>
          </p:cNvCxnSpPr>
          <p:nvPr userDrawn="1"/>
        </p:nvCxnSpPr>
        <p:spPr>
          <a:xfrm>
            <a:off x="0" y="4738334"/>
            <a:ext cx="9144000" cy="0"/>
          </a:xfrm>
          <a:prstGeom prst="line">
            <a:avLst/>
          </a:prstGeom>
          <a:ln>
            <a:solidFill>
              <a:srgbClr val="02AB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ttore 1 3">
            <a:extLst>
              <a:ext uri="{FF2B5EF4-FFF2-40B4-BE49-F238E27FC236}">
                <a16:creationId xmlns:a16="http://schemas.microsoft.com/office/drawing/2014/main" id="{3D4A15D8-CECE-B3C0-6994-369907E4C3B3}"/>
              </a:ext>
            </a:extLst>
          </p:cNvPr>
          <p:cNvCxnSpPr>
            <a:cxnSpLocks/>
          </p:cNvCxnSpPr>
          <p:nvPr userDrawn="1"/>
        </p:nvCxnSpPr>
        <p:spPr>
          <a:xfrm>
            <a:off x="8162692" y="4738334"/>
            <a:ext cx="0" cy="415525"/>
          </a:xfrm>
          <a:prstGeom prst="line">
            <a:avLst/>
          </a:prstGeom>
          <a:ln>
            <a:solidFill>
              <a:srgbClr val="02AB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egnaposto contenuto 32">
            <a:extLst>
              <a:ext uri="{FF2B5EF4-FFF2-40B4-BE49-F238E27FC236}">
                <a16:creationId xmlns:a16="http://schemas.microsoft.com/office/drawing/2014/main" id="{B5FB87AD-FBB6-D022-B00E-754AC6C9876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6480" y="4829390"/>
            <a:ext cx="7954963" cy="250642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Fjalla One" panose="02000506040000020004" pitchFamily="2" charset="0"/>
              </a:defRPr>
            </a:lvl1pPr>
            <a:lvl2pPr>
              <a:defRPr sz="900">
                <a:latin typeface="Fjalla One" panose="02000506040000020004" pitchFamily="2" charset="0"/>
              </a:defRPr>
            </a:lvl2pPr>
            <a:lvl3pPr>
              <a:defRPr sz="900">
                <a:latin typeface="Fjalla One" panose="02000506040000020004" pitchFamily="2" charset="0"/>
              </a:defRPr>
            </a:lvl3pPr>
            <a:lvl4pPr>
              <a:defRPr sz="900">
                <a:latin typeface="Fjalla One" panose="02000506040000020004" pitchFamily="2" charset="0"/>
              </a:defRPr>
            </a:lvl4pPr>
            <a:lvl5pPr>
              <a:defRPr sz="900">
                <a:latin typeface="Fjalla One" panose="02000506040000020004" pitchFamily="2" charset="0"/>
              </a:defRPr>
            </a:lvl5pPr>
          </a:lstStyle>
          <a:p>
            <a:pPr lvl="0"/>
            <a:r>
              <a:rPr lang="it-IT"/>
              <a:t>Nome Cognome – Titolo della Tesi - Email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77" r:id="rId2"/>
    <p:sldLayoutId id="214748366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12" Type="http://schemas.openxmlformats.org/officeDocument/2006/relationships/image" Target="../media/image1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jpe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3F59326-1FF4-8A48-B0C7-29D2079E1D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682" y="2499159"/>
            <a:ext cx="8596635" cy="1005750"/>
          </a:xfrm>
        </p:spPr>
        <p:txBody>
          <a:bodyPr/>
          <a:lstStyle/>
          <a:p>
            <a:pPr algn="ctr"/>
            <a:r>
              <a:rPr lang="it-IT" sz="4000" dirty="0" err="1">
                <a:solidFill>
                  <a:srgbClr val="494949"/>
                </a:solidFill>
              </a:rPr>
              <a:t>Penetration</a:t>
            </a:r>
            <a:r>
              <a:rPr lang="it-IT" sz="4000" dirty="0">
                <a:solidFill>
                  <a:srgbClr val="494949"/>
                </a:solidFill>
              </a:rPr>
              <a:t> Testing and </a:t>
            </a:r>
            <a:r>
              <a:rPr lang="it-IT" sz="4000" dirty="0" err="1">
                <a:solidFill>
                  <a:srgbClr val="494949"/>
                </a:solidFill>
              </a:rPr>
              <a:t>Ethical</a:t>
            </a:r>
            <a:r>
              <a:rPr lang="it-IT" sz="4000" dirty="0">
                <a:solidFill>
                  <a:srgbClr val="494949"/>
                </a:solidFill>
              </a:rPr>
              <a:t> Hacking: </a:t>
            </a:r>
            <a:br>
              <a:rPr lang="it-IT" sz="4000" dirty="0">
                <a:solidFill>
                  <a:srgbClr val="494949"/>
                </a:solidFill>
              </a:rPr>
            </a:br>
            <a:r>
              <a:rPr lang="it-IT" sz="3600" dirty="0">
                <a:solidFill>
                  <a:srgbClr val="494949"/>
                </a:solidFill>
              </a:rPr>
              <a:t>S.I.D.E. </a:t>
            </a:r>
            <a:br>
              <a:rPr lang="it-IT" sz="3600" dirty="0">
                <a:solidFill>
                  <a:srgbClr val="494949"/>
                </a:solidFill>
              </a:rPr>
            </a:br>
            <a:r>
              <a:rPr lang="it-IT" sz="3600" dirty="0">
                <a:solidFill>
                  <a:srgbClr val="494949"/>
                </a:solidFill>
              </a:rPr>
              <a:t>( Scada </a:t>
            </a:r>
            <a:r>
              <a:rPr lang="it-IT" sz="3600" dirty="0" err="1">
                <a:solidFill>
                  <a:srgbClr val="494949"/>
                </a:solidFill>
              </a:rPr>
              <a:t>Intrusion</a:t>
            </a:r>
            <a:r>
              <a:rPr lang="it-IT" sz="3600" dirty="0">
                <a:solidFill>
                  <a:srgbClr val="494949"/>
                </a:solidFill>
              </a:rPr>
              <a:t> </a:t>
            </a:r>
            <a:r>
              <a:rPr lang="it-IT" sz="3600" dirty="0" err="1">
                <a:solidFill>
                  <a:srgbClr val="494949"/>
                </a:solidFill>
              </a:rPr>
              <a:t>Detection</a:t>
            </a:r>
            <a:r>
              <a:rPr lang="it-IT" sz="3600" dirty="0">
                <a:solidFill>
                  <a:srgbClr val="494949"/>
                </a:solidFill>
              </a:rPr>
              <a:t> Environment )</a:t>
            </a:r>
            <a:endParaRPr lang="it-IT" sz="36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AFCC00F-D6AC-F27F-551D-0FBB14FFDBC6}"/>
              </a:ext>
            </a:extLst>
          </p:cNvPr>
          <p:cNvSpPr txBox="1"/>
          <p:nvPr/>
        </p:nvSpPr>
        <p:spPr>
          <a:xfrm>
            <a:off x="6419173" y="3864150"/>
            <a:ext cx="25218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Fjalla One" panose="02000506040000020004" pitchFamily="2" charset="0"/>
              </a:rPr>
              <a:t>Professore: Arcangelo Castiglione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0D84B3E-836F-28CA-18F8-FBECE58470B6}"/>
              </a:ext>
            </a:extLst>
          </p:cNvPr>
          <p:cNvSpPr txBox="1"/>
          <p:nvPr/>
        </p:nvSpPr>
        <p:spPr>
          <a:xfrm>
            <a:off x="7122891" y="4300105"/>
            <a:ext cx="18181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Fjalla One" panose="02000506040000020004" pitchFamily="2" charset="0"/>
              </a:rPr>
              <a:t>Umberto Della Monica </a:t>
            </a:r>
          </a:p>
          <a:p>
            <a:r>
              <a:rPr lang="it-IT" dirty="0">
                <a:latin typeface="Fjalla One" panose="02000506040000020004" pitchFamily="2" charset="0"/>
              </a:rPr>
              <a:t>Matricola : 0522501617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6D26581-EFA1-1050-AB59-7AAA51D2C145}"/>
              </a:ext>
            </a:extLst>
          </p:cNvPr>
          <p:cNvSpPr txBox="1"/>
          <p:nvPr/>
        </p:nvSpPr>
        <p:spPr>
          <a:xfrm>
            <a:off x="273682" y="4669436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latin typeface="Fjalla One" panose="02000506040000020004" pitchFamily="2" charset="0"/>
              </a:rPr>
              <a:t>Anno 2024-2025</a:t>
            </a:r>
          </a:p>
        </p:txBody>
      </p:sp>
    </p:spTree>
    <p:extLst>
      <p:ext uri="{BB962C8B-B14F-4D97-AF65-F5344CB8AC3E}">
        <p14:creationId xmlns:p14="http://schemas.microsoft.com/office/powerpoint/2010/main" val="3027720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olo 14">
            <a:extLst>
              <a:ext uri="{FF2B5EF4-FFF2-40B4-BE49-F238E27FC236}">
                <a16:creationId xmlns:a16="http://schemas.microsoft.com/office/drawing/2014/main" id="{98912E9B-DC13-4D3A-39C8-D242C3361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Tabella Dei Contenuti</a:t>
            </a:r>
          </a:p>
        </p:txBody>
      </p:sp>
      <p:sp>
        <p:nvSpPr>
          <p:cNvPr id="16" name="Sottotitolo 15">
            <a:extLst>
              <a:ext uri="{FF2B5EF4-FFF2-40B4-BE49-F238E27FC236}">
                <a16:creationId xmlns:a16="http://schemas.microsoft.com/office/drawing/2014/main" id="{EA9C98D4-A5FF-ECEE-CC1A-47DBEEAF24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66134" y="1592299"/>
            <a:ext cx="1945200" cy="375000"/>
          </a:xfrm>
        </p:spPr>
        <p:txBody>
          <a:bodyPr/>
          <a:lstStyle/>
          <a:p>
            <a:r>
              <a:rPr lang="it-IT" dirty="0" err="1"/>
              <a:t>Why</a:t>
            </a:r>
            <a:r>
              <a:rPr lang="it-IT" dirty="0"/>
              <a:t> S.I.D.E. ? </a:t>
            </a:r>
          </a:p>
        </p:txBody>
      </p:sp>
      <p:sp>
        <p:nvSpPr>
          <p:cNvPr id="24" name="Segnaposto contenuto 23">
            <a:extLst>
              <a:ext uri="{FF2B5EF4-FFF2-40B4-BE49-F238E27FC236}">
                <a16:creationId xmlns:a16="http://schemas.microsoft.com/office/drawing/2014/main" id="{1F0C790C-2088-C2C4-B459-7833AD297A7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it-IT" dirty="0"/>
              <a:t>Umberto Della Monica – S.I.D.E.</a:t>
            </a:r>
          </a:p>
        </p:txBody>
      </p:sp>
      <p:sp>
        <p:nvSpPr>
          <p:cNvPr id="25" name="Google Shape;696;p32">
            <a:extLst>
              <a:ext uri="{FF2B5EF4-FFF2-40B4-BE49-F238E27FC236}">
                <a16:creationId xmlns:a16="http://schemas.microsoft.com/office/drawing/2014/main" id="{5BF908E4-69FB-14C9-5509-33509A078A35}"/>
              </a:ext>
            </a:extLst>
          </p:cNvPr>
          <p:cNvSpPr/>
          <p:nvPr/>
        </p:nvSpPr>
        <p:spPr>
          <a:xfrm>
            <a:off x="1624335" y="1443992"/>
            <a:ext cx="648000" cy="648000"/>
          </a:xfrm>
          <a:prstGeom prst="roundRect">
            <a:avLst>
              <a:gd name="adj" fmla="val 16667"/>
            </a:avLst>
          </a:prstGeom>
          <a:solidFill>
            <a:srgbClr val="FFC6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" name="Google Shape;698;p32">
            <a:extLst>
              <a:ext uri="{FF2B5EF4-FFF2-40B4-BE49-F238E27FC236}">
                <a16:creationId xmlns:a16="http://schemas.microsoft.com/office/drawing/2014/main" id="{BD452480-D855-B2C6-F911-1569ADACC571}"/>
              </a:ext>
            </a:extLst>
          </p:cNvPr>
          <p:cNvSpPr txBox="1">
            <a:spLocks/>
          </p:cNvSpPr>
          <p:nvPr/>
        </p:nvSpPr>
        <p:spPr>
          <a:xfrm>
            <a:off x="1568775" y="1562473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pPr algn="ctr"/>
            <a:r>
              <a:rPr lang="fr" sz="1800" dirty="0"/>
              <a:t>1</a:t>
            </a:r>
          </a:p>
        </p:txBody>
      </p:sp>
      <p:sp>
        <p:nvSpPr>
          <p:cNvPr id="27" name="Sottotitolo 15">
            <a:extLst>
              <a:ext uri="{FF2B5EF4-FFF2-40B4-BE49-F238E27FC236}">
                <a16:creationId xmlns:a16="http://schemas.microsoft.com/office/drawing/2014/main" id="{B7F437BF-2601-586D-7021-ADE365E64BB8}"/>
              </a:ext>
            </a:extLst>
          </p:cNvPr>
          <p:cNvSpPr txBox="1">
            <a:spLocks/>
          </p:cNvSpPr>
          <p:nvPr/>
        </p:nvSpPr>
        <p:spPr>
          <a:xfrm>
            <a:off x="2366134" y="2543294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2ABA9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pPr lvl="0"/>
            <a:r>
              <a:rPr lang="it-IT" dirty="0" err="1"/>
              <a:t>Stack</a:t>
            </a:r>
            <a:r>
              <a:rPr lang="it-IT" dirty="0"/>
              <a:t> Tecnologico</a:t>
            </a:r>
          </a:p>
        </p:txBody>
      </p:sp>
      <p:sp>
        <p:nvSpPr>
          <p:cNvPr id="28" name="Google Shape;696;p32">
            <a:extLst>
              <a:ext uri="{FF2B5EF4-FFF2-40B4-BE49-F238E27FC236}">
                <a16:creationId xmlns:a16="http://schemas.microsoft.com/office/drawing/2014/main" id="{88D81DC2-CB87-5113-D9AF-DB562F92A671}"/>
              </a:ext>
            </a:extLst>
          </p:cNvPr>
          <p:cNvSpPr/>
          <p:nvPr/>
        </p:nvSpPr>
        <p:spPr>
          <a:xfrm>
            <a:off x="1624335" y="2394987"/>
            <a:ext cx="648000" cy="648000"/>
          </a:xfrm>
          <a:prstGeom prst="roundRect">
            <a:avLst>
              <a:gd name="adj" fmla="val 16667"/>
            </a:avLst>
          </a:prstGeom>
          <a:solidFill>
            <a:srgbClr val="FFC6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" name="Google Shape;698;p32">
            <a:extLst>
              <a:ext uri="{FF2B5EF4-FFF2-40B4-BE49-F238E27FC236}">
                <a16:creationId xmlns:a16="http://schemas.microsoft.com/office/drawing/2014/main" id="{8ED3654A-6757-AF34-6A76-B414EDB25981}"/>
              </a:ext>
            </a:extLst>
          </p:cNvPr>
          <p:cNvSpPr txBox="1">
            <a:spLocks/>
          </p:cNvSpPr>
          <p:nvPr/>
        </p:nvSpPr>
        <p:spPr>
          <a:xfrm>
            <a:off x="1568775" y="2513468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pPr algn="ctr"/>
            <a:r>
              <a:rPr lang="fr" sz="1800" dirty="0"/>
              <a:t>2</a:t>
            </a:r>
          </a:p>
        </p:txBody>
      </p:sp>
      <p:sp>
        <p:nvSpPr>
          <p:cNvPr id="30" name="Sottotitolo 15">
            <a:extLst>
              <a:ext uri="{FF2B5EF4-FFF2-40B4-BE49-F238E27FC236}">
                <a16:creationId xmlns:a16="http://schemas.microsoft.com/office/drawing/2014/main" id="{AE510D6C-C176-57E2-C965-EB55F346884C}"/>
              </a:ext>
            </a:extLst>
          </p:cNvPr>
          <p:cNvSpPr txBox="1">
            <a:spLocks/>
          </p:cNvSpPr>
          <p:nvPr/>
        </p:nvSpPr>
        <p:spPr>
          <a:xfrm>
            <a:off x="2418314" y="3564202"/>
            <a:ext cx="252664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2ABA9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pPr lvl="0"/>
            <a:r>
              <a:rPr lang="it-IT" dirty="0"/>
              <a:t>S.I.D.E. - Architettura Proposta</a:t>
            </a:r>
          </a:p>
        </p:txBody>
      </p:sp>
      <p:sp>
        <p:nvSpPr>
          <p:cNvPr id="31" name="Google Shape;696;p32">
            <a:extLst>
              <a:ext uri="{FF2B5EF4-FFF2-40B4-BE49-F238E27FC236}">
                <a16:creationId xmlns:a16="http://schemas.microsoft.com/office/drawing/2014/main" id="{60A9899E-7A8B-1016-89C6-CFFD58954824}"/>
              </a:ext>
            </a:extLst>
          </p:cNvPr>
          <p:cNvSpPr/>
          <p:nvPr/>
        </p:nvSpPr>
        <p:spPr>
          <a:xfrm>
            <a:off x="1676515" y="3415895"/>
            <a:ext cx="648000" cy="648000"/>
          </a:xfrm>
          <a:prstGeom prst="roundRect">
            <a:avLst>
              <a:gd name="adj" fmla="val 16667"/>
            </a:avLst>
          </a:prstGeom>
          <a:solidFill>
            <a:srgbClr val="FFC6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" name="Google Shape;698;p32">
            <a:extLst>
              <a:ext uri="{FF2B5EF4-FFF2-40B4-BE49-F238E27FC236}">
                <a16:creationId xmlns:a16="http://schemas.microsoft.com/office/drawing/2014/main" id="{3A31A676-A2E3-081E-9176-2BEB5D3F5F39}"/>
              </a:ext>
            </a:extLst>
          </p:cNvPr>
          <p:cNvSpPr txBox="1">
            <a:spLocks/>
          </p:cNvSpPr>
          <p:nvPr/>
        </p:nvSpPr>
        <p:spPr>
          <a:xfrm>
            <a:off x="1620955" y="3534376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pPr algn="ctr"/>
            <a:r>
              <a:rPr lang="fr" sz="1800" dirty="0"/>
              <a:t>3</a:t>
            </a:r>
          </a:p>
        </p:txBody>
      </p:sp>
      <p:sp>
        <p:nvSpPr>
          <p:cNvPr id="33" name="Sottotitolo 15">
            <a:extLst>
              <a:ext uri="{FF2B5EF4-FFF2-40B4-BE49-F238E27FC236}">
                <a16:creationId xmlns:a16="http://schemas.microsoft.com/office/drawing/2014/main" id="{E8C31D23-EA11-6605-6949-8822AB141915}"/>
              </a:ext>
            </a:extLst>
          </p:cNvPr>
          <p:cNvSpPr txBox="1">
            <a:spLocks/>
          </p:cNvSpPr>
          <p:nvPr/>
        </p:nvSpPr>
        <p:spPr>
          <a:xfrm>
            <a:off x="5804972" y="1592299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2ABA9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pPr marL="0" indent="0"/>
            <a:r>
              <a:rPr lang="it-IT" dirty="0"/>
              <a:t>S.I.D.E. – Protocolli </a:t>
            </a:r>
          </a:p>
        </p:txBody>
      </p:sp>
      <p:sp>
        <p:nvSpPr>
          <p:cNvPr id="34" name="Google Shape;696;p32">
            <a:extLst>
              <a:ext uri="{FF2B5EF4-FFF2-40B4-BE49-F238E27FC236}">
                <a16:creationId xmlns:a16="http://schemas.microsoft.com/office/drawing/2014/main" id="{9060CF55-6767-6743-F524-2DD8D1745967}"/>
              </a:ext>
            </a:extLst>
          </p:cNvPr>
          <p:cNvSpPr/>
          <p:nvPr/>
        </p:nvSpPr>
        <p:spPr>
          <a:xfrm>
            <a:off x="5063173" y="1443992"/>
            <a:ext cx="648000" cy="648000"/>
          </a:xfrm>
          <a:prstGeom prst="roundRect">
            <a:avLst>
              <a:gd name="adj" fmla="val 16667"/>
            </a:avLst>
          </a:prstGeom>
          <a:solidFill>
            <a:srgbClr val="FFC6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" name="Google Shape;698;p32">
            <a:extLst>
              <a:ext uri="{FF2B5EF4-FFF2-40B4-BE49-F238E27FC236}">
                <a16:creationId xmlns:a16="http://schemas.microsoft.com/office/drawing/2014/main" id="{E83C4D18-18B1-3998-6CAD-4BA5BFC43A8D}"/>
              </a:ext>
            </a:extLst>
          </p:cNvPr>
          <p:cNvSpPr txBox="1">
            <a:spLocks/>
          </p:cNvSpPr>
          <p:nvPr/>
        </p:nvSpPr>
        <p:spPr>
          <a:xfrm>
            <a:off x="5007613" y="1562473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pPr algn="ctr"/>
            <a:r>
              <a:rPr lang="fr" sz="1800" dirty="0"/>
              <a:t>4</a:t>
            </a:r>
          </a:p>
        </p:txBody>
      </p:sp>
      <p:sp>
        <p:nvSpPr>
          <p:cNvPr id="36" name="Sottotitolo 15">
            <a:extLst>
              <a:ext uri="{FF2B5EF4-FFF2-40B4-BE49-F238E27FC236}">
                <a16:creationId xmlns:a16="http://schemas.microsoft.com/office/drawing/2014/main" id="{9CAF9901-9A15-B686-79B8-9FF8E97AEF71}"/>
              </a:ext>
            </a:extLst>
          </p:cNvPr>
          <p:cNvSpPr txBox="1">
            <a:spLocks/>
          </p:cNvSpPr>
          <p:nvPr/>
        </p:nvSpPr>
        <p:spPr>
          <a:xfrm>
            <a:off x="5860531" y="2527440"/>
            <a:ext cx="2223903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2ABA9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pPr lvl="0"/>
            <a:r>
              <a:rPr lang="it-IT" dirty="0"/>
              <a:t>S.I.D.E - Implementazione</a:t>
            </a:r>
          </a:p>
        </p:txBody>
      </p:sp>
      <p:sp>
        <p:nvSpPr>
          <p:cNvPr id="37" name="Google Shape;696;p32">
            <a:extLst>
              <a:ext uri="{FF2B5EF4-FFF2-40B4-BE49-F238E27FC236}">
                <a16:creationId xmlns:a16="http://schemas.microsoft.com/office/drawing/2014/main" id="{E0DDE63A-855A-5FAF-AA21-A0C810460510}"/>
              </a:ext>
            </a:extLst>
          </p:cNvPr>
          <p:cNvSpPr/>
          <p:nvPr/>
        </p:nvSpPr>
        <p:spPr>
          <a:xfrm>
            <a:off x="5118733" y="2379133"/>
            <a:ext cx="648000" cy="648000"/>
          </a:xfrm>
          <a:prstGeom prst="roundRect">
            <a:avLst>
              <a:gd name="adj" fmla="val 16667"/>
            </a:avLst>
          </a:prstGeom>
          <a:solidFill>
            <a:srgbClr val="FFC6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" name="Google Shape;698;p32">
            <a:extLst>
              <a:ext uri="{FF2B5EF4-FFF2-40B4-BE49-F238E27FC236}">
                <a16:creationId xmlns:a16="http://schemas.microsoft.com/office/drawing/2014/main" id="{2B6DDD3D-03D5-74C1-3C9C-011D77BD20AD}"/>
              </a:ext>
            </a:extLst>
          </p:cNvPr>
          <p:cNvSpPr txBox="1">
            <a:spLocks/>
          </p:cNvSpPr>
          <p:nvPr/>
        </p:nvSpPr>
        <p:spPr>
          <a:xfrm>
            <a:off x="5063173" y="2497614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pPr algn="ctr"/>
            <a:r>
              <a:rPr lang="fr" sz="1800" dirty="0"/>
              <a:t>5</a:t>
            </a:r>
          </a:p>
        </p:txBody>
      </p:sp>
      <p:sp>
        <p:nvSpPr>
          <p:cNvPr id="39" name="Sottotitolo 15">
            <a:extLst>
              <a:ext uri="{FF2B5EF4-FFF2-40B4-BE49-F238E27FC236}">
                <a16:creationId xmlns:a16="http://schemas.microsoft.com/office/drawing/2014/main" id="{204E9DC2-0DC6-6FA6-CE74-EEAB9A0F3884}"/>
              </a:ext>
            </a:extLst>
          </p:cNvPr>
          <p:cNvSpPr txBox="1">
            <a:spLocks/>
          </p:cNvSpPr>
          <p:nvPr/>
        </p:nvSpPr>
        <p:spPr>
          <a:xfrm>
            <a:off x="5860532" y="3542229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2ABA9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fr" dirty="0"/>
              <a:t>Sviluppi Futuri</a:t>
            </a:r>
            <a:endParaRPr lang="it-IT" dirty="0"/>
          </a:p>
        </p:txBody>
      </p:sp>
      <p:sp>
        <p:nvSpPr>
          <p:cNvPr id="40" name="Google Shape;696;p32">
            <a:extLst>
              <a:ext uri="{FF2B5EF4-FFF2-40B4-BE49-F238E27FC236}">
                <a16:creationId xmlns:a16="http://schemas.microsoft.com/office/drawing/2014/main" id="{AAB08CAB-9CB1-C37F-CF7E-325141B155FB}"/>
              </a:ext>
            </a:extLst>
          </p:cNvPr>
          <p:cNvSpPr/>
          <p:nvPr/>
        </p:nvSpPr>
        <p:spPr>
          <a:xfrm>
            <a:off x="5118733" y="3393922"/>
            <a:ext cx="648000" cy="648000"/>
          </a:xfrm>
          <a:prstGeom prst="roundRect">
            <a:avLst>
              <a:gd name="adj" fmla="val 16667"/>
            </a:avLst>
          </a:prstGeom>
          <a:solidFill>
            <a:srgbClr val="FFC6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" name="Google Shape;698;p32">
            <a:extLst>
              <a:ext uri="{FF2B5EF4-FFF2-40B4-BE49-F238E27FC236}">
                <a16:creationId xmlns:a16="http://schemas.microsoft.com/office/drawing/2014/main" id="{58C72E01-78E3-4FCF-DC47-9075BB0EA10D}"/>
              </a:ext>
            </a:extLst>
          </p:cNvPr>
          <p:cNvSpPr txBox="1">
            <a:spLocks/>
          </p:cNvSpPr>
          <p:nvPr/>
        </p:nvSpPr>
        <p:spPr>
          <a:xfrm>
            <a:off x="5063173" y="3512403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pPr algn="ctr"/>
            <a:r>
              <a:rPr lang="fr" sz="18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38860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olo 23">
            <a:extLst>
              <a:ext uri="{FF2B5EF4-FFF2-40B4-BE49-F238E27FC236}">
                <a16:creationId xmlns:a16="http://schemas.microsoft.com/office/drawing/2014/main" id="{B0DD7B2A-B1AC-C9CD-49CA-773CDD42B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8775" y="342217"/>
            <a:ext cx="6006300" cy="595800"/>
          </a:xfrm>
        </p:spPr>
        <p:txBody>
          <a:bodyPr/>
          <a:lstStyle/>
          <a:p>
            <a:r>
              <a:rPr lang="en-US" sz="3200" dirty="0"/>
              <a:t>1 - Why S.I.D.E. ?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5606227-001B-4B23-4EDC-54BA3D783F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812" y="1102015"/>
            <a:ext cx="1945200" cy="375000"/>
          </a:xfrm>
        </p:spPr>
        <p:txBody>
          <a:bodyPr/>
          <a:lstStyle/>
          <a:p>
            <a:r>
              <a:rPr lang="it-IT" dirty="0"/>
              <a:t>Ambiente Isolato</a:t>
            </a:r>
          </a:p>
        </p:txBody>
      </p:sp>
      <p:sp>
        <p:nvSpPr>
          <p:cNvPr id="5" name="Sottotitolo 4">
            <a:extLst>
              <a:ext uri="{FF2B5EF4-FFF2-40B4-BE49-F238E27FC236}">
                <a16:creationId xmlns:a16="http://schemas.microsoft.com/office/drawing/2014/main" id="{08FE179D-9698-C5D7-269F-D362416D0BF8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542812" y="1313287"/>
            <a:ext cx="2094629" cy="1351773"/>
          </a:xfrm>
        </p:spPr>
        <p:txBody>
          <a:bodyPr/>
          <a:lstStyle/>
          <a:p>
            <a:r>
              <a:rPr lang="it-IT" dirty="0"/>
              <a:t>Attraverso un ambiente isolato è possibile testare eventuali meccanismi di difesa e di attacco su vari device ( simulati e non ) che risultano essere presenti all’interno </a:t>
            </a:r>
            <a:r>
              <a:rPr lang="it-IT" dirty="0" err="1"/>
              <a:t>dell'environment</a:t>
            </a:r>
            <a:endParaRPr lang="it-IT" dirty="0"/>
          </a:p>
        </p:txBody>
      </p:sp>
      <p:sp>
        <p:nvSpPr>
          <p:cNvPr id="7" name="Sottotitolo 6">
            <a:extLst>
              <a:ext uri="{FF2B5EF4-FFF2-40B4-BE49-F238E27FC236}">
                <a16:creationId xmlns:a16="http://schemas.microsoft.com/office/drawing/2014/main" id="{663785DC-1192-5641-8A15-287F5F97BBE6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6601275" y="1347643"/>
            <a:ext cx="1947600" cy="375000"/>
          </a:xfrm>
        </p:spPr>
        <p:txBody>
          <a:bodyPr/>
          <a:lstStyle/>
          <a:p>
            <a:r>
              <a:rPr lang="it-IT" dirty="0"/>
              <a:t>Front-End </a:t>
            </a:r>
          </a:p>
        </p:txBody>
      </p:sp>
      <p:sp>
        <p:nvSpPr>
          <p:cNvPr id="8" name="Sottotitolo 7">
            <a:extLst>
              <a:ext uri="{FF2B5EF4-FFF2-40B4-BE49-F238E27FC236}">
                <a16:creationId xmlns:a16="http://schemas.microsoft.com/office/drawing/2014/main" id="{F7711FB5-E755-1D9B-3DAC-4E8BBD8E50D1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601275" y="1565353"/>
            <a:ext cx="1817571" cy="1481121"/>
          </a:xfrm>
        </p:spPr>
        <p:txBody>
          <a:bodyPr/>
          <a:lstStyle/>
          <a:p>
            <a:r>
              <a:rPr lang="it-IT" dirty="0"/>
              <a:t>L’operatore SCADA può utilizzare un portale Web che permette in real-time di poter visualizzare tutta la topologia dei dispositivi simulati e i vari eventi che vengono generati</a:t>
            </a:r>
          </a:p>
        </p:txBody>
      </p:sp>
      <p:sp>
        <p:nvSpPr>
          <p:cNvPr id="13" name="Segnaposto contenuto 12">
            <a:extLst>
              <a:ext uri="{FF2B5EF4-FFF2-40B4-BE49-F238E27FC236}">
                <a16:creationId xmlns:a16="http://schemas.microsoft.com/office/drawing/2014/main" id="{CECC4CF8-E82E-23A2-96DC-67AAD3BBAD6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it-IT" dirty="0"/>
              <a:t>Umberto Della Monica – S.I.D.E.</a:t>
            </a:r>
          </a:p>
        </p:txBody>
      </p:sp>
      <p:pic>
        <p:nvPicPr>
          <p:cNvPr id="28" name="Immagine 27" descr="Immagine che contiene testo, schermo, schermata, computer&#10;&#10;Il contenuto generato dall'IA potrebbe non essere corretto.">
            <a:extLst>
              <a:ext uri="{FF2B5EF4-FFF2-40B4-BE49-F238E27FC236}">
                <a16:creationId xmlns:a16="http://schemas.microsoft.com/office/drawing/2014/main" id="{7E59A1E1-E503-08AA-C185-A092A9C071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35" y="2859180"/>
            <a:ext cx="1789569" cy="1182305"/>
          </a:xfrm>
          <a:prstGeom prst="rect">
            <a:avLst/>
          </a:prstGeom>
        </p:spPr>
      </p:pic>
      <p:pic>
        <p:nvPicPr>
          <p:cNvPr id="30" name="Immagine 29" descr="Immagine che contiene diagramma, testo, Elementi grafici, design&#10;&#10;Il contenuto generato dall'IA potrebbe non essere corretto.">
            <a:extLst>
              <a:ext uri="{FF2B5EF4-FFF2-40B4-BE49-F238E27FC236}">
                <a16:creationId xmlns:a16="http://schemas.microsoft.com/office/drawing/2014/main" id="{3BE2E1D5-98EA-894F-B621-DF1F103CD3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4856" y="3006781"/>
            <a:ext cx="1892885" cy="880192"/>
          </a:xfrm>
          <a:prstGeom prst="rect">
            <a:avLst/>
          </a:prstGeom>
        </p:spPr>
      </p:pic>
      <p:sp>
        <p:nvSpPr>
          <p:cNvPr id="31" name="Sottotitolo 6">
            <a:extLst>
              <a:ext uri="{FF2B5EF4-FFF2-40B4-BE49-F238E27FC236}">
                <a16:creationId xmlns:a16="http://schemas.microsoft.com/office/drawing/2014/main" id="{EE6C9E92-AF66-47CE-E692-1137D4FADCE2}"/>
              </a:ext>
            </a:extLst>
          </p:cNvPr>
          <p:cNvSpPr txBox="1">
            <a:spLocks/>
          </p:cNvSpPr>
          <p:nvPr/>
        </p:nvSpPr>
        <p:spPr>
          <a:xfrm>
            <a:off x="3760742" y="1565353"/>
            <a:ext cx="1079341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2ABA9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it-IT" dirty="0"/>
              <a:t>IDS (Custom) </a:t>
            </a:r>
          </a:p>
        </p:txBody>
      </p:sp>
      <p:pic>
        <p:nvPicPr>
          <p:cNvPr id="33" name="Immagine 32" descr="Immagine che contiene testo, logo, Carattere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6C3CE4A6-C0AC-4152-4AA3-E7F2B4AC06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1764" y="2691009"/>
            <a:ext cx="1215186" cy="1232440"/>
          </a:xfrm>
          <a:prstGeom prst="rect">
            <a:avLst/>
          </a:prstGeom>
        </p:spPr>
      </p:pic>
      <p:sp>
        <p:nvSpPr>
          <p:cNvPr id="34" name="Sottotitolo 7">
            <a:extLst>
              <a:ext uri="{FF2B5EF4-FFF2-40B4-BE49-F238E27FC236}">
                <a16:creationId xmlns:a16="http://schemas.microsoft.com/office/drawing/2014/main" id="{E5F24C35-DE21-9308-9F0B-74AF1B486BE9}"/>
              </a:ext>
            </a:extLst>
          </p:cNvPr>
          <p:cNvSpPr txBox="1">
            <a:spLocks/>
          </p:cNvSpPr>
          <p:nvPr/>
        </p:nvSpPr>
        <p:spPr>
          <a:xfrm>
            <a:off x="3710572" y="1788806"/>
            <a:ext cx="1817571" cy="1481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it-IT" dirty="0"/>
              <a:t>E’ possibile configurare un IDS all’interno di S.I.D.E. e può essere altamente personalizzabile</a:t>
            </a:r>
          </a:p>
        </p:txBody>
      </p:sp>
    </p:spTree>
    <p:extLst>
      <p:ext uri="{BB962C8B-B14F-4D97-AF65-F5344CB8AC3E}">
        <p14:creationId xmlns:p14="http://schemas.microsoft.com/office/powerpoint/2010/main" val="723359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5C0FE-33DA-84C7-FEEC-5EF34FB02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olo 23">
            <a:extLst>
              <a:ext uri="{FF2B5EF4-FFF2-40B4-BE49-F238E27FC236}">
                <a16:creationId xmlns:a16="http://schemas.microsoft.com/office/drawing/2014/main" id="{ABFD7563-C3C4-3463-446A-13303956B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GB" sz="4400" dirty="0">
                <a:solidFill>
                  <a:srgbClr val="494949"/>
                </a:solidFill>
              </a:rPr>
            </a:br>
            <a:endParaRPr lang="en-US" sz="4400" dirty="0"/>
          </a:p>
        </p:txBody>
      </p:sp>
      <p:sp>
        <p:nvSpPr>
          <p:cNvPr id="4" name="Sottotitolo 3">
            <a:extLst>
              <a:ext uri="{FF2B5EF4-FFF2-40B4-BE49-F238E27FC236}">
                <a16:creationId xmlns:a16="http://schemas.microsoft.com/office/drawing/2014/main" id="{95C6B0FD-6D82-9179-8688-D9B3959A1C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0425" y="1138227"/>
            <a:ext cx="1945200" cy="375000"/>
          </a:xfrm>
        </p:spPr>
        <p:txBody>
          <a:bodyPr/>
          <a:lstStyle/>
          <a:p>
            <a:r>
              <a:rPr lang="it-IT" dirty="0"/>
              <a:t>Python</a:t>
            </a:r>
          </a:p>
        </p:txBody>
      </p:sp>
      <p:sp>
        <p:nvSpPr>
          <p:cNvPr id="7" name="Sottotitolo 6">
            <a:extLst>
              <a:ext uri="{FF2B5EF4-FFF2-40B4-BE49-F238E27FC236}">
                <a16:creationId xmlns:a16="http://schemas.microsoft.com/office/drawing/2014/main" id="{43F096A6-A42A-FE4A-1EDE-2116FFA22F81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331185" y="1492743"/>
            <a:ext cx="2585355" cy="744853"/>
          </a:xfrm>
        </p:spPr>
        <p:txBody>
          <a:bodyPr/>
          <a:lstStyle/>
          <a:p>
            <a:pPr marL="171450" indent="-171450">
              <a:buFontTx/>
              <a:buChar char="-"/>
            </a:pPr>
            <a:r>
              <a:rPr lang="it-IT" dirty="0"/>
              <a:t>Utilizzato per simulare Device SCADA.</a:t>
            </a:r>
          </a:p>
          <a:p>
            <a:pPr marL="171450" indent="-171450">
              <a:buFontTx/>
              <a:buChar char="-"/>
            </a:pPr>
            <a:r>
              <a:rPr lang="it-IT" dirty="0"/>
              <a:t>Utilizzato per configurare ed eseguire server insieme a </a:t>
            </a:r>
            <a:r>
              <a:rPr lang="it-IT" b="1" i="1" dirty="0" err="1"/>
              <a:t>fastapi</a:t>
            </a:r>
            <a:endParaRPr lang="it-IT" b="1" i="1" dirty="0"/>
          </a:p>
        </p:txBody>
      </p:sp>
      <p:sp>
        <p:nvSpPr>
          <p:cNvPr id="10" name="Sottotitolo 9">
            <a:extLst>
              <a:ext uri="{FF2B5EF4-FFF2-40B4-BE49-F238E27FC236}">
                <a16:creationId xmlns:a16="http://schemas.microsoft.com/office/drawing/2014/main" id="{37BF9EAA-21C3-AC6A-3AED-526793F10391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6523467" y="1038150"/>
            <a:ext cx="1947600" cy="375000"/>
          </a:xfrm>
        </p:spPr>
        <p:txBody>
          <a:bodyPr/>
          <a:lstStyle/>
          <a:p>
            <a:r>
              <a:rPr lang="it-IT" dirty="0"/>
              <a:t>Neo4J</a:t>
            </a:r>
          </a:p>
        </p:txBody>
      </p:sp>
      <p:sp>
        <p:nvSpPr>
          <p:cNvPr id="12" name="Sottotitolo 11">
            <a:extLst>
              <a:ext uri="{FF2B5EF4-FFF2-40B4-BE49-F238E27FC236}">
                <a16:creationId xmlns:a16="http://schemas.microsoft.com/office/drawing/2014/main" id="{83F038A2-B8BF-64EE-B310-AFAB21078A36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523466" y="1431341"/>
            <a:ext cx="2479661" cy="974829"/>
          </a:xfrm>
        </p:spPr>
        <p:txBody>
          <a:bodyPr/>
          <a:lstStyle/>
          <a:p>
            <a:r>
              <a:rPr lang="it-IT" dirty="0"/>
              <a:t>Database a Grafi per la visualizzazione grafica dei dati e delle relazioni tra i vari device simulati</a:t>
            </a:r>
          </a:p>
        </p:txBody>
      </p:sp>
      <p:sp>
        <p:nvSpPr>
          <p:cNvPr id="14" name="Sottotitolo 13">
            <a:extLst>
              <a:ext uri="{FF2B5EF4-FFF2-40B4-BE49-F238E27FC236}">
                <a16:creationId xmlns:a16="http://schemas.microsoft.com/office/drawing/2014/main" id="{635AFE24-9813-6FF2-C687-A6E4EC8BA3A5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519568" y="2976863"/>
            <a:ext cx="1945200" cy="375000"/>
          </a:xfrm>
        </p:spPr>
        <p:txBody>
          <a:bodyPr/>
          <a:lstStyle/>
          <a:p>
            <a:r>
              <a:rPr lang="it-IT" dirty="0" err="1"/>
              <a:t>Libpcap</a:t>
            </a:r>
            <a:r>
              <a:rPr lang="it-IT" dirty="0"/>
              <a:t> tools </a:t>
            </a:r>
          </a:p>
        </p:txBody>
      </p:sp>
      <p:sp>
        <p:nvSpPr>
          <p:cNvPr id="15" name="Sottotitolo 14">
            <a:extLst>
              <a:ext uri="{FF2B5EF4-FFF2-40B4-BE49-F238E27FC236}">
                <a16:creationId xmlns:a16="http://schemas.microsoft.com/office/drawing/2014/main" id="{01FC7EFD-3CCA-877D-101A-1CB57311B9F4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519568" y="3370055"/>
            <a:ext cx="1945200" cy="759000"/>
          </a:xfrm>
        </p:spPr>
        <p:txBody>
          <a:bodyPr/>
          <a:lstStyle/>
          <a:p>
            <a:r>
              <a:rPr lang="it-IT" dirty="0"/>
              <a:t>Utilizzo delle varie librerie per la costruzione custom del nostro IDS</a:t>
            </a:r>
          </a:p>
        </p:txBody>
      </p:sp>
      <p:sp>
        <p:nvSpPr>
          <p:cNvPr id="16" name="Sottotitolo 15">
            <a:extLst>
              <a:ext uri="{FF2B5EF4-FFF2-40B4-BE49-F238E27FC236}">
                <a16:creationId xmlns:a16="http://schemas.microsoft.com/office/drawing/2014/main" id="{549548A5-EE8F-C284-C64A-A9A7D537937B}"/>
              </a:ext>
            </a:extLst>
          </p:cNvPr>
          <p:cNvSpPr>
            <a:spLocks noGrp="1"/>
          </p:cNvSpPr>
          <p:nvPr>
            <p:ph type="subTitle" idx="7"/>
          </p:nvPr>
        </p:nvSpPr>
        <p:spPr>
          <a:xfrm>
            <a:off x="6944421" y="3031362"/>
            <a:ext cx="1993500" cy="375000"/>
          </a:xfrm>
        </p:spPr>
        <p:txBody>
          <a:bodyPr/>
          <a:lstStyle/>
          <a:p>
            <a:r>
              <a:rPr lang="it-IT" dirty="0" err="1"/>
              <a:t>RabbitMQ</a:t>
            </a:r>
            <a:endParaRPr lang="it-IT" dirty="0"/>
          </a:p>
        </p:txBody>
      </p:sp>
      <p:sp>
        <p:nvSpPr>
          <p:cNvPr id="17" name="Sottotitolo 16">
            <a:extLst>
              <a:ext uri="{FF2B5EF4-FFF2-40B4-BE49-F238E27FC236}">
                <a16:creationId xmlns:a16="http://schemas.microsoft.com/office/drawing/2014/main" id="{305A00AE-C94B-7183-57E4-41DBAAC469E6}"/>
              </a:ext>
            </a:extLst>
          </p:cNvPr>
          <p:cNvSpPr>
            <a:spLocks noGrp="1"/>
          </p:cNvSpPr>
          <p:nvPr>
            <p:ph type="subTitle" idx="8"/>
          </p:nvPr>
        </p:nvSpPr>
        <p:spPr>
          <a:xfrm>
            <a:off x="6944421" y="3275892"/>
            <a:ext cx="2058706" cy="935532"/>
          </a:xfrm>
        </p:spPr>
        <p:txBody>
          <a:bodyPr/>
          <a:lstStyle/>
          <a:p>
            <a:r>
              <a:rPr lang="it-IT" dirty="0"/>
              <a:t>Tecnologia per la pubblicazione di eventi tra vari canali di comunicazione o tra vari moduli del sistema</a:t>
            </a:r>
          </a:p>
        </p:txBody>
      </p:sp>
      <p:sp>
        <p:nvSpPr>
          <p:cNvPr id="2" name="Titolo 23">
            <a:extLst>
              <a:ext uri="{FF2B5EF4-FFF2-40B4-BE49-F238E27FC236}">
                <a16:creationId xmlns:a16="http://schemas.microsoft.com/office/drawing/2014/main" id="{5814D53B-EA2E-1226-66EE-DC948AF0B2CE}"/>
              </a:ext>
            </a:extLst>
          </p:cNvPr>
          <p:cNvSpPr txBox="1">
            <a:spLocks/>
          </p:cNvSpPr>
          <p:nvPr/>
        </p:nvSpPr>
        <p:spPr>
          <a:xfrm>
            <a:off x="1490967" y="261533"/>
            <a:ext cx="6006300" cy="5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n-US" dirty="0"/>
              <a:t>2 - Stack Tecnologico</a:t>
            </a:r>
          </a:p>
        </p:txBody>
      </p:sp>
      <p:sp>
        <p:nvSpPr>
          <p:cNvPr id="21" name="Segnaposto contenuto 12">
            <a:extLst>
              <a:ext uri="{FF2B5EF4-FFF2-40B4-BE49-F238E27FC236}">
                <a16:creationId xmlns:a16="http://schemas.microsoft.com/office/drawing/2014/main" id="{22B38610-3A05-E746-7D49-CD036F8C968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6675" y="4829175"/>
            <a:ext cx="7954963" cy="250825"/>
          </a:xfrm>
        </p:spPr>
        <p:txBody>
          <a:bodyPr/>
          <a:lstStyle/>
          <a:p>
            <a:r>
              <a:rPr lang="it-IT" dirty="0"/>
              <a:t>Umberto Della Monica – S.I.D.E.</a:t>
            </a:r>
          </a:p>
        </p:txBody>
      </p:sp>
      <p:sp>
        <p:nvSpPr>
          <p:cNvPr id="22" name="Sottotitolo 9">
            <a:extLst>
              <a:ext uri="{FF2B5EF4-FFF2-40B4-BE49-F238E27FC236}">
                <a16:creationId xmlns:a16="http://schemas.microsoft.com/office/drawing/2014/main" id="{D2129B1A-58A8-0DBC-187D-1994F0D310E6}"/>
              </a:ext>
            </a:extLst>
          </p:cNvPr>
          <p:cNvSpPr txBox="1">
            <a:spLocks/>
          </p:cNvSpPr>
          <p:nvPr/>
        </p:nvSpPr>
        <p:spPr>
          <a:xfrm>
            <a:off x="3640966" y="1407952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2ABA9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it-IT" dirty="0"/>
              <a:t>Next.js</a:t>
            </a:r>
          </a:p>
        </p:txBody>
      </p:sp>
      <p:sp>
        <p:nvSpPr>
          <p:cNvPr id="23" name="Sottotitolo 14">
            <a:extLst>
              <a:ext uri="{FF2B5EF4-FFF2-40B4-BE49-F238E27FC236}">
                <a16:creationId xmlns:a16="http://schemas.microsoft.com/office/drawing/2014/main" id="{56D00C83-B712-AD9D-1C31-E841229CB9BE}"/>
              </a:ext>
            </a:extLst>
          </p:cNvPr>
          <p:cNvSpPr txBox="1">
            <a:spLocks/>
          </p:cNvSpPr>
          <p:nvPr/>
        </p:nvSpPr>
        <p:spPr>
          <a:xfrm>
            <a:off x="3695824" y="1713903"/>
            <a:ext cx="1993500" cy="552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it-IT" dirty="0"/>
              <a:t>Framework per la creazione dell’ interfaccia Web </a:t>
            </a:r>
          </a:p>
          <a:p>
            <a:endParaRPr lang="it-IT" dirty="0"/>
          </a:p>
        </p:txBody>
      </p:sp>
      <p:sp>
        <p:nvSpPr>
          <p:cNvPr id="25" name="Sottotitolo 9">
            <a:extLst>
              <a:ext uri="{FF2B5EF4-FFF2-40B4-BE49-F238E27FC236}">
                <a16:creationId xmlns:a16="http://schemas.microsoft.com/office/drawing/2014/main" id="{4EB8CA54-DC39-45F6-368E-E4DA284365A7}"/>
              </a:ext>
            </a:extLst>
          </p:cNvPr>
          <p:cNvSpPr txBox="1">
            <a:spLocks/>
          </p:cNvSpPr>
          <p:nvPr/>
        </p:nvSpPr>
        <p:spPr>
          <a:xfrm>
            <a:off x="3521517" y="3663080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2ABA9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it-IT" dirty="0"/>
              <a:t>Docker</a:t>
            </a:r>
          </a:p>
        </p:txBody>
      </p:sp>
      <p:sp>
        <p:nvSpPr>
          <p:cNvPr id="26" name="Sottotitolo 14">
            <a:extLst>
              <a:ext uri="{FF2B5EF4-FFF2-40B4-BE49-F238E27FC236}">
                <a16:creationId xmlns:a16="http://schemas.microsoft.com/office/drawing/2014/main" id="{5EE4BD4D-3953-F553-D0E2-9B284191DC20}"/>
              </a:ext>
            </a:extLst>
          </p:cNvPr>
          <p:cNvSpPr txBox="1">
            <a:spLocks/>
          </p:cNvSpPr>
          <p:nvPr/>
        </p:nvSpPr>
        <p:spPr>
          <a:xfrm>
            <a:off x="3521517" y="3882152"/>
            <a:ext cx="1945200" cy="499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it-IT" dirty="0"/>
              <a:t>Utilizzato per la costruzione dell’ambiente isolato</a:t>
            </a:r>
          </a:p>
          <a:p>
            <a:r>
              <a:rPr lang="it-IT" dirty="0"/>
              <a:t>*(Utilizzo per sviluppi futuri)*</a:t>
            </a:r>
          </a:p>
        </p:txBody>
      </p:sp>
      <p:pic>
        <p:nvPicPr>
          <p:cNvPr id="30" name="Immagine 29" descr="Immagine che contiene Elementi grafici, clipart, schermata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FC776C7F-D2BB-191B-68DD-67E7058F7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8168" y="1990277"/>
            <a:ext cx="763514" cy="763514"/>
          </a:xfrm>
          <a:prstGeom prst="rect">
            <a:avLst/>
          </a:prstGeom>
        </p:spPr>
      </p:pic>
      <p:pic>
        <p:nvPicPr>
          <p:cNvPr id="32" name="Elemento grafico 31">
            <a:extLst>
              <a:ext uri="{FF2B5EF4-FFF2-40B4-BE49-F238E27FC236}">
                <a16:creationId xmlns:a16="http://schemas.microsoft.com/office/drawing/2014/main" id="{FEDFE4BA-84F9-DC0B-4506-1C4C54C53D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50337" y="3796081"/>
            <a:ext cx="810021" cy="810021"/>
          </a:xfrm>
          <a:prstGeom prst="rect">
            <a:avLst/>
          </a:prstGeom>
        </p:spPr>
      </p:pic>
      <p:pic>
        <p:nvPicPr>
          <p:cNvPr id="34" name="Elemento grafico 33">
            <a:extLst>
              <a:ext uri="{FF2B5EF4-FFF2-40B4-BE49-F238E27FC236}">
                <a16:creationId xmlns:a16="http://schemas.microsoft.com/office/drawing/2014/main" id="{1C762F93-D7F2-4A09-236B-AF4550708B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32653" y="3141203"/>
            <a:ext cx="916983" cy="770266"/>
          </a:xfrm>
          <a:prstGeom prst="rect">
            <a:avLst/>
          </a:prstGeom>
        </p:spPr>
      </p:pic>
      <p:pic>
        <p:nvPicPr>
          <p:cNvPr id="39" name="Elemento grafico 38">
            <a:extLst>
              <a:ext uri="{FF2B5EF4-FFF2-40B4-BE49-F238E27FC236}">
                <a16:creationId xmlns:a16="http://schemas.microsoft.com/office/drawing/2014/main" id="{BE3A0DE8-2A1D-5399-0A18-D577D26285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23466" y="3953547"/>
            <a:ext cx="741041" cy="741041"/>
          </a:xfrm>
          <a:prstGeom prst="rect">
            <a:avLst/>
          </a:prstGeom>
        </p:spPr>
      </p:pic>
      <p:pic>
        <p:nvPicPr>
          <p:cNvPr id="41" name="Immagine 40" descr="Immagine che contiene schermata, Elementi grafici, Policromia&#10;&#10;Il contenuto generato dall'IA potrebbe non essere corretto.">
            <a:extLst>
              <a:ext uri="{FF2B5EF4-FFF2-40B4-BE49-F238E27FC236}">
                <a16:creationId xmlns:a16="http://schemas.microsoft.com/office/drawing/2014/main" id="{12C461A2-A88E-7E65-8AFA-8631CEC5D64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95765" y="1882445"/>
            <a:ext cx="847455" cy="847455"/>
          </a:xfrm>
          <a:prstGeom prst="rect">
            <a:avLst/>
          </a:prstGeom>
        </p:spPr>
      </p:pic>
      <p:pic>
        <p:nvPicPr>
          <p:cNvPr id="43" name="Elemento grafico 42">
            <a:extLst>
              <a:ext uri="{FF2B5EF4-FFF2-40B4-BE49-F238E27FC236}">
                <a16:creationId xmlns:a16="http://schemas.microsoft.com/office/drawing/2014/main" id="{A2911B27-EFC0-2910-CE2F-0B2B9BF8669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79268" y="2034834"/>
            <a:ext cx="509298" cy="50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064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44DABB-A3B1-3A10-D196-A8B920368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8925" y="269317"/>
            <a:ext cx="6006300" cy="595800"/>
          </a:xfrm>
        </p:spPr>
        <p:txBody>
          <a:bodyPr/>
          <a:lstStyle/>
          <a:p>
            <a:r>
              <a:rPr lang="it-IT" dirty="0"/>
              <a:t>3 - S.I.D.E – Architettura Proposta</a:t>
            </a:r>
          </a:p>
        </p:txBody>
      </p:sp>
      <p:sp>
        <p:nvSpPr>
          <p:cNvPr id="15" name="Segnaposto contenuto 12">
            <a:extLst>
              <a:ext uri="{FF2B5EF4-FFF2-40B4-BE49-F238E27FC236}">
                <a16:creationId xmlns:a16="http://schemas.microsoft.com/office/drawing/2014/main" id="{B7B471C9-4F0C-74FC-E62D-5CA146A6B203}"/>
              </a:ext>
            </a:extLst>
          </p:cNvPr>
          <p:cNvSpPr txBox="1">
            <a:spLocks/>
          </p:cNvSpPr>
          <p:nvPr/>
        </p:nvSpPr>
        <p:spPr>
          <a:xfrm>
            <a:off x="0" y="4748770"/>
            <a:ext cx="7954963" cy="2508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00" b="0" i="0" u="none" strike="noStrike" cap="none">
                <a:solidFill>
                  <a:schemeClr val="bg2"/>
                </a:solidFill>
                <a:latin typeface="Fjalla One" panose="02000506040000020004" pitchFamily="2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00" b="0" i="0" u="none" strike="noStrike" cap="none">
                <a:solidFill>
                  <a:srgbClr val="000000"/>
                </a:solidFill>
                <a:latin typeface="Fjalla One" panose="02000506040000020004" pitchFamily="2" charset="0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00" b="0" i="0" u="none" strike="noStrike" cap="none">
                <a:solidFill>
                  <a:srgbClr val="000000"/>
                </a:solidFill>
                <a:latin typeface="Fjalla One" panose="02000506040000020004" pitchFamily="2" charset="0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00" b="0" i="0" u="none" strike="noStrike" cap="none">
                <a:solidFill>
                  <a:srgbClr val="000000"/>
                </a:solidFill>
                <a:latin typeface="Fjalla One" panose="02000506040000020004" pitchFamily="2" charset="0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00" b="0" i="0" u="none" strike="noStrike" cap="none">
                <a:solidFill>
                  <a:srgbClr val="000000"/>
                </a:solidFill>
                <a:latin typeface="Fjalla One" panose="02000506040000020004" pitchFamily="2" charset="0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/>
              <a:t>Umberto Della Monica – S.I.D.E.</a:t>
            </a:r>
            <a:endParaRPr lang="it-IT" dirty="0"/>
          </a:p>
        </p:txBody>
      </p:sp>
      <p:pic>
        <p:nvPicPr>
          <p:cNvPr id="16" name="Segnaposto contenuto 12" descr="Immagine che contiene diagramma, testo, schermata, Piano&#10;&#10;Il contenuto generato dall'IA potrebbe non essere corretto.">
            <a:extLst>
              <a:ext uri="{FF2B5EF4-FFF2-40B4-BE49-F238E27FC236}">
                <a16:creationId xmlns:a16="http://schemas.microsoft.com/office/drawing/2014/main" id="{72EC2038-1236-EB23-27F2-FAEEFC1B4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236" y="781521"/>
            <a:ext cx="5960727" cy="3865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573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9008B-65F1-7DDB-0B5E-201FFBD42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B9C2DE-9C4A-278A-8257-B5DC2027C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8925" y="269317"/>
            <a:ext cx="6006300" cy="595800"/>
          </a:xfrm>
        </p:spPr>
        <p:txBody>
          <a:bodyPr/>
          <a:lstStyle/>
          <a:p>
            <a:r>
              <a:rPr lang="it-IT" dirty="0"/>
              <a:t>4 - S.I.D.E – Protocolli </a:t>
            </a:r>
          </a:p>
        </p:txBody>
      </p:sp>
      <p:sp>
        <p:nvSpPr>
          <p:cNvPr id="15" name="Segnaposto contenuto 12">
            <a:extLst>
              <a:ext uri="{FF2B5EF4-FFF2-40B4-BE49-F238E27FC236}">
                <a16:creationId xmlns:a16="http://schemas.microsoft.com/office/drawing/2014/main" id="{EF183543-A619-C0F2-39BE-9950CEC56744}"/>
              </a:ext>
            </a:extLst>
          </p:cNvPr>
          <p:cNvSpPr txBox="1">
            <a:spLocks/>
          </p:cNvSpPr>
          <p:nvPr/>
        </p:nvSpPr>
        <p:spPr>
          <a:xfrm>
            <a:off x="0" y="4748770"/>
            <a:ext cx="7954963" cy="2508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00" b="0" i="0" u="none" strike="noStrike" cap="none">
                <a:solidFill>
                  <a:schemeClr val="bg2"/>
                </a:solidFill>
                <a:latin typeface="Fjalla One" panose="02000506040000020004" pitchFamily="2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00" b="0" i="0" u="none" strike="noStrike" cap="none">
                <a:solidFill>
                  <a:srgbClr val="000000"/>
                </a:solidFill>
                <a:latin typeface="Fjalla One" panose="02000506040000020004" pitchFamily="2" charset="0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00" b="0" i="0" u="none" strike="noStrike" cap="none">
                <a:solidFill>
                  <a:srgbClr val="000000"/>
                </a:solidFill>
                <a:latin typeface="Fjalla One" panose="02000506040000020004" pitchFamily="2" charset="0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00" b="0" i="0" u="none" strike="noStrike" cap="none">
                <a:solidFill>
                  <a:srgbClr val="000000"/>
                </a:solidFill>
                <a:latin typeface="Fjalla One" panose="02000506040000020004" pitchFamily="2" charset="0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00" b="0" i="0" u="none" strike="noStrike" cap="none">
                <a:solidFill>
                  <a:srgbClr val="000000"/>
                </a:solidFill>
                <a:latin typeface="Fjalla One" panose="02000506040000020004" pitchFamily="2" charset="0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/>
              <a:t>Umberto Della Monica – S.I.D.E.</a:t>
            </a:r>
            <a:endParaRPr lang="it-IT" dirty="0"/>
          </a:p>
        </p:txBody>
      </p:sp>
      <p:sp>
        <p:nvSpPr>
          <p:cNvPr id="3" name="Sottotitolo 12">
            <a:extLst>
              <a:ext uri="{FF2B5EF4-FFF2-40B4-BE49-F238E27FC236}">
                <a16:creationId xmlns:a16="http://schemas.microsoft.com/office/drawing/2014/main" id="{8FD97913-F64A-5AAA-EBED-BCCA9FB073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205" y="1016412"/>
            <a:ext cx="2585139" cy="375000"/>
          </a:xfrm>
        </p:spPr>
        <p:txBody>
          <a:bodyPr/>
          <a:lstStyle/>
          <a:p>
            <a:r>
              <a:rPr lang="it-IT" dirty="0"/>
              <a:t>MODBUS - Origini</a:t>
            </a:r>
          </a:p>
        </p:txBody>
      </p:sp>
      <p:sp>
        <p:nvSpPr>
          <p:cNvPr id="8" name="Sottotitolo 7">
            <a:extLst>
              <a:ext uri="{FF2B5EF4-FFF2-40B4-BE49-F238E27FC236}">
                <a16:creationId xmlns:a16="http://schemas.microsoft.com/office/drawing/2014/main" id="{1EB0AD06-8283-9573-6CBE-87C48F73F89E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276204" y="1463245"/>
            <a:ext cx="3239156" cy="1108505"/>
          </a:xfrm>
        </p:spPr>
        <p:txBody>
          <a:bodyPr/>
          <a:lstStyle/>
          <a:p>
            <a:r>
              <a:rPr lang="it-IT" dirty="0"/>
              <a:t>Protocollo di comunicazione industriale introdotto nel 1979 da </a:t>
            </a:r>
            <a:r>
              <a:rPr lang="it-IT" dirty="0" err="1"/>
              <a:t>Modicon</a:t>
            </a:r>
            <a:r>
              <a:rPr lang="it-IT" dirty="0"/>
              <a:t> (ora Schneider Electric), utilizzato per lo scambio di dati tra dispositivi master e slave su reti seriali o TCP/IP.</a:t>
            </a:r>
          </a:p>
          <a:p>
            <a:endParaRPr lang="it-IT" dirty="0"/>
          </a:p>
        </p:txBody>
      </p:sp>
      <p:sp>
        <p:nvSpPr>
          <p:cNvPr id="11" name="Sottotitolo 7">
            <a:extLst>
              <a:ext uri="{FF2B5EF4-FFF2-40B4-BE49-F238E27FC236}">
                <a16:creationId xmlns:a16="http://schemas.microsoft.com/office/drawing/2014/main" id="{9513A24F-9C96-6F85-8603-56004F680748}"/>
              </a:ext>
            </a:extLst>
          </p:cNvPr>
          <p:cNvSpPr txBox="1">
            <a:spLocks/>
          </p:cNvSpPr>
          <p:nvPr/>
        </p:nvSpPr>
        <p:spPr>
          <a:xfrm>
            <a:off x="276204" y="3122189"/>
            <a:ext cx="2953513" cy="996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it-IT" dirty="0"/>
              <a:t>Contiene indirizzo del dispositivo, codice funzione, dati (registri o coil) e CRC per il controllo d’errore.</a:t>
            </a:r>
            <a:br>
              <a:rPr lang="it-IT" dirty="0"/>
            </a:br>
            <a:r>
              <a:rPr lang="it-IT" dirty="0"/>
              <a:t>Formato semplice e deterministico, ideale per PLC e sensori.</a:t>
            </a:r>
          </a:p>
        </p:txBody>
      </p:sp>
      <p:sp>
        <p:nvSpPr>
          <p:cNvPr id="12" name="Sottotitolo 12">
            <a:extLst>
              <a:ext uri="{FF2B5EF4-FFF2-40B4-BE49-F238E27FC236}">
                <a16:creationId xmlns:a16="http://schemas.microsoft.com/office/drawing/2014/main" id="{B6241902-250F-5003-6276-9E8950CBA30E}"/>
              </a:ext>
            </a:extLst>
          </p:cNvPr>
          <p:cNvSpPr txBox="1">
            <a:spLocks/>
          </p:cNvSpPr>
          <p:nvPr/>
        </p:nvSpPr>
        <p:spPr>
          <a:xfrm>
            <a:off x="276204" y="2852145"/>
            <a:ext cx="2585139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2ABA9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it-IT" dirty="0"/>
              <a:t>MODBUS – Struttura del Pacchetto</a:t>
            </a:r>
          </a:p>
        </p:txBody>
      </p:sp>
      <p:pic>
        <p:nvPicPr>
          <p:cNvPr id="14" name="Immagine 13" descr="Immagine che contiene testo, schermata, linea, Carattere&#10;&#10;Il contenuto generato dall'IA potrebbe non essere corretto.">
            <a:extLst>
              <a:ext uri="{FF2B5EF4-FFF2-40B4-BE49-F238E27FC236}">
                <a16:creationId xmlns:a16="http://schemas.microsoft.com/office/drawing/2014/main" id="{101F21D3-8F21-B02E-BF0F-7A6FD4303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934" y="1591783"/>
            <a:ext cx="4903450" cy="1508754"/>
          </a:xfrm>
          <a:prstGeom prst="rect">
            <a:avLst/>
          </a:prstGeom>
        </p:spPr>
      </p:pic>
      <p:sp>
        <p:nvSpPr>
          <p:cNvPr id="19" name="Sottotitolo 7">
            <a:extLst>
              <a:ext uri="{FF2B5EF4-FFF2-40B4-BE49-F238E27FC236}">
                <a16:creationId xmlns:a16="http://schemas.microsoft.com/office/drawing/2014/main" id="{A1DE9272-4688-DCFD-425F-BBD365534E33}"/>
              </a:ext>
            </a:extLst>
          </p:cNvPr>
          <p:cNvSpPr txBox="1">
            <a:spLocks/>
          </p:cNvSpPr>
          <p:nvPr/>
        </p:nvSpPr>
        <p:spPr>
          <a:xfrm>
            <a:off x="3720127" y="3232095"/>
            <a:ext cx="4234836" cy="996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it-IT" b="1" dirty="0"/>
              <a:t>Perché viene usato:</a:t>
            </a:r>
            <a:endParaRPr lang="it-IT" dirty="0"/>
          </a:p>
          <a:p>
            <a:r>
              <a:rPr lang="it-IT" dirty="0"/>
              <a:t>- Ampiamente supportato e facile da implementare.</a:t>
            </a:r>
          </a:p>
          <a:p>
            <a:r>
              <a:rPr lang="it-IT" dirty="0"/>
              <a:t>- Compatibile con dispositivi eterogenei e legacy.</a:t>
            </a:r>
          </a:p>
          <a:p>
            <a:r>
              <a:rPr lang="it-IT" dirty="0"/>
              <a:t>- Perfetto per reti industriali a bassa complessità.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67469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1D70A-FDEE-2A79-185E-05AE9C16E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F80C67-8BDB-7AFB-F211-49B306918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8925" y="269317"/>
            <a:ext cx="6006300" cy="595800"/>
          </a:xfrm>
        </p:spPr>
        <p:txBody>
          <a:bodyPr/>
          <a:lstStyle/>
          <a:p>
            <a:r>
              <a:rPr lang="it-IT" dirty="0"/>
              <a:t>4 - S.I.D.E – Protocolli </a:t>
            </a:r>
          </a:p>
        </p:txBody>
      </p:sp>
      <p:sp>
        <p:nvSpPr>
          <p:cNvPr id="15" name="Segnaposto contenuto 12">
            <a:extLst>
              <a:ext uri="{FF2B5EF4-FFF2-40B4-BE49-F238E27FC236}">
                <a16:creationId xmlns:a16="http://schemas.microsoft.com/office/drawing/2014/main" id="{2C9E8A08-F49E-C20C-00B3-37FE3ADAD26D}"/>
              </a:ext>
            </a:extLst>
          </p:cNvPr>
          <p:cNvSpPr txBox="1">
            <a:spLocks/>
          </p:cNvSpPr>
          <p:nvPr/>
        </p:nvSpPr>
        <p:spPr>
          <a:xfrm>
            <a:off x="0" y="4748770"/>
            <a:ext cx="7954963" cy="2508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00" b="0" i="0" u="none" strike="noStrike" cap="none">
                <a:solidFill>
                  <a:schemeClr val="bg2"/>
                </a:solidFill>
                <a:latin typeface="Fjalla One" panose="02000506040000020004" pitchFamily="2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00" b="0" i="0" u="none" strike="noStrike" cap="none">
                <a:solidFill>
                  <a:srgbClr val="000000"/>
                </a:solidFill>
                <a:latin typeface="Fjalla One" panose="02000506040000020004" pitchFamily="2" charset="0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00" b="0" i="0" u="none" strike="noStrike" cap="none">
                <a:solidFill>
                  <a:srgbClr val="000000"/>
                </a:solidFill>
                <a:latin typeface="Fjalla One" panose="02000506040000020004" pitchFamily="2" charset="0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00" b="0" i="0" u="none" strike="noStrike" cap="none">
                <a:solidFill>
                  <a:srgbClr val="000000"/>
                </a:solidFill>
                <a:latin typeface="Fjalla One" panose="02000506040000020004" pitchFamily="2" charset="0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00" b="0" i="0" u="none" strike="noStrike" cap="none">
                <a:solidFill>
                  <a:srgbClr val="000000"/>
                </a:solidFill>
                <a:latin typeface="Fjalla One" panose="02000506040000020004" pitchFamily="2" charset="0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/>
              <a:t>Umberto Della Monica – S.I.D.E.</a:t>
            </a:r>
            <a:endParaRPr lang="it-IT" dirty="0"/>
          </a:p>
        </p:txBody>
      </p:sp>
      <p:sp>
        <p:nvSpPr>
          <p:cNvPr id="3" name="Sottotitolo 12">
            <a:extLst>
              <a:ext uri="{FF2B5EF4-FFF2-40B4-BE49-F238E27FC236}">
                <a16:creationId xmlns:a16="http://schemas.microsoft.com/office/drawing/2014/main" id="{DCFF2E05-6C71-46E7-6ED1-752F53498A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205" y="1016412"/>
            <a:ext cx="2585139" cy="375000"/>
          </a:xfrm>
        </p:spPr>
        <p:txBody>
          <a:bodyPr/>
          <a:lstStyle/>
          <a:p>
            <a:r>
              <a:rPr lang="it-IT" dirty="0"/>
              <a:t>OPC-UA - Origini</a:t>
            </a:r>
          </a:p>
        </p:txBody>
      </p:sp>
      <p:sp>
        <p:nvSpPr>
          <p:cNvPr id="8" name="Sottotitolo 7">
            <a:extLst>
              <a:ext uri="{FF2B5EF4-FFF2-40B4-BE49-F238E27FC236}">
                <a16:creationId xmlns:a16="http://schemas.microsoft.com/office/drawing/2014/main" id="{BEB2C4FA-CA11-27E5-675E-737D9BDC77CD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276204" y="1473955"/>
            <a:ext cx="3239156" cy="996682"/>
          </a:xfrm>
        </p:spPr>
        <p:txBody>
          <a:bodyPr/>
          <a:lstStyle/>
          <a:p>
            <a:r>
              <a:rPr lang="it-IT" dirty="0"/>
              <a:t>Protocollo moderno e orientato ai servizi per la comunicazione machine-to-machine in ambienti industriali. Basato su architettura a oggetti e supporta sia trasporto binario che via HTTP.</a:t>
            </a:r>
          </a:p>
        </p:txBody>
      </p:sp>
      <p:sp>
        <p:nvSpPr>
          <p:cNvPr id="11" name="Sottotitolo 7">
            <a:extLst>
              <a:ext uri="{FF2B5EF4-FFF2-40B4-BE49-F238E27FC236}">
                <a16:creationId xmlns:a16="http://schemas.microsoft.com/office/drawing/2014/main" id="{2E694B84-EEE5-3B91-DDA7-474C90D2D76F}"/>
              </a:ext>
            </a:extLst>
          </p:cNvPr>
          <p:cNvSpPr txBox="1">
            <a:spLocks/>
          </p:cNvSpPr>
          <p:nvPr/>
        </p:nvSpPr>
        <p:spPr>
          <a:xfrm>
            <a:off x="276204" y="2841794"/>
            <a:ext cx="3147715" cy="996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it-IT" dirty="0"/>
              <a:t>I messaggi includono </a:t>
            </a:r>
            <a:r>
              <a:rPr lang="it-IT" dirty="0" err="1"/>
              <a:t>header</a:t>
            </a:r>
            <a:r>
              <a:rPr lang="it-IT" dirty="0"/>
              <a:t>, identificatori di sessione e payload strutturato in formato binario o XML/JSON.</a:t>
            </a:r>
            <a:br>
              <a:rPr lang="it-IT" dirty="0"/>
            </a:br>
            <a:r>
              <a:rPr lang="it-IT" dirty="0"/>
              <a:t>Supporta comunicazioni asincrone e </a:t>
            </a:r>
            <a:r>
              <a:rPr lang="it-IT" dirty="0" err="1"/>
              <a:t>discovery</a:t>
            </a:r>
            <a:r>
              <a:rPr lang="it-IT" dirty="0"/>
              <a:t> automatico dei nodi.</a:t>
            </a:r>
          </a:p>
        </p:txBody>
      </p:sp>
      <p:sp>
        <p:nvSpPr>
          <p:cNvPr id="12" name="Sottotitolo 12">
            <a:extLst>
              <a:ext uri="{FF2B5EF4-FFF2-40B4-BE49-F238E27FC236}">
                <a16:creationId xmlns:a16="http://schemas.microsoft.com/office/drawing/2014/main" id="{70D46A58-4C0F-9C1F-3C96-A43BE6501BBC}"/>
              </a:ext>
            </a:extLst>
          </p:cNvPr>
          <p:cNvSpPr txBox="1">
            <a:spLocks/>
          </p:cNvSpPr>
          <p:nvPr/>
        </p:nvSpPr>
        <p:spPr>
          <a:xfrm>
            <a:off x="276204" y="2571750"/>
            <a:ext cx="2585139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2ABA9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it-IT" dirty="0"/>
              <a:t>OPC-UA – Struttura del Pacchetto</a:t>
            </a:r>
          </a:p>
        </p:txBody>
      </p:sp>
      <p:pic>
        <p:nvPicPr>
          <p:cNvPr id="5" name="Immagine 4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681CFDC6-2A13-2EAB-54D3-F38A4D22F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3321" y="1319475"/>
            <a:ext cx="4770027" cy="1627275"/>
          </a:xfrm>
          <a:prstGeom prst="rect">
            <a:avLst/>
          </a:prstGeom>
        </p:spPr>
      </p:pic>
      <p:sp>
        <p:nvSpPr>
          <p:cNvPr id="6" name="Sottotitolo 7">
            <a:extLst>
              <a:ext uri="{FF2B5EF4-FFF2-40B4-BE49-F238E27FC236}">
                <a16:creationId xmlns:a16="http://schemas.microsoft.com/office/drawing/2014/main" id="{B7F9A52F-086A-A883-4B57-555571F05A83}"/>
              </a:ext>
            </a:extLst>
          </p:cNvPr>
          <p:cNvSpPr txBox="1">
            <a:spLocks/>
          </p:cNvSpPr>
          <p:nvPr/>
        </p:nvSpPr>
        <p:spPr>
          <a:xfrm>
            <a:off x="3720127" y="3232095"/>
            <a:ext cx="4234836" cy="996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it-IT" b="1" dirty="0"/>
              <a:t>Perché viene usato:</a:t>
            </a:r>
            <a:endParaRPr lang="it-IT" dirty="0"/>
          </a:p>
          <a:p>
            <a:r>
              <a:rPr lang="it-IT" dirty="0"/>
              <a:t>- Altamente interoperabile e indipendente dalla piattaforma.</a:t>
            </a:r>
          </a:p>
          <a:p>
            <a:r>
              <a:rPr lang="it-IT" dirty="0"/>
              <a:t>- Permette la modellazione semantica dei dati industriali.</a:t>
            </a:r>
          </a:p>
          <a:p>
            <a:r>
              <a:rPr lang="it-IT" dirty="0"/>
              <a:t>- Supporta scenari </a:t>
            </a:r>
            <a:r>
              <a:rPr lang="it-IT" dirty="0" err="1"/>
              <a:t>IIoT</a:t>
            </a:r>
            <a:r>
              <a:rPr lang="it-IT" dirty="0"/>
              <a:t> e Industria 4.0.</a:t>
            </a:r>
          </a:p>
        </p:txBody>
      </p:sp>
    </p:spTree>
    <p:extLst>
      <p:ext uri="{BB962C8B-B14F-4D97-AF65-F5344CB8AC3E}">
        <p14:creationId xmlns:p14="http://schemas.microsoft.com/office/powerpoint/2010/main" val="2290049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01C8A-C4B2-B1E4-41A2-A913387FA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A8B4B9-29BE-5F4C-C41A-0E303BF61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8925" y="269317"/>
            <a:ext cx="6006300" cy="595800"/>
          </a:xfrm>
        </p:spPr>
        <p:txBody>
          <a:bodyPr/>
          <a:lstStyle/>
          <a:p>
            <a:r>
              <a:rPr lang="it-IT" dirty="0"/>
              <a:t>4 - S.I.D.E – Protocolli </a:t>
            </a:r>
          </a:p>
        </p:txBody>
      </p:sp>
      <p:sp>
        <p:nvSpPr>
          <p:cNvPr id="15" name="Segnaposto contenuto 12">
            <a:extLst>
              <a:ext uri="{FF2B5EF4-FFF2-40B4-BE49-F238E27FC236}">
                <a16:creationId xmlns:a16="http://schemas.microsoft.com/office/drawing/2014/main" id="{DD9B60E5-F5FB-EA81-D80C-CB0172A33344}"/>
              </a:ext>
            </a:extLst>
          </p:cNvPr>
          <p:cNvSpPr txBox="1">
            <a:spLocks/>
          </p:cNvSpPr>
          <p:nvPr/>
        </p:nvSpPr>
        <p:spPr>
          <a:xfrm>
            <a:off x="0" y="4748770"/>
            <a:ext cx="7954963" cy="2508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00" b="0" i="0" u="none" strike="noStrike" cap="none">
                <a:solidFill>
                  <a:schemeClr val="bg2"/>
                </a:solidFill>
                <a:latin typeface="Fjalla One" panose="02000506040000020004" pitchFamily="2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00" b="0" i="0" u="none" strike="noStrike" cap="none">
                <a:solidFill>
                  <a:srgbClr val="000000"/>
                </a:solidFill>
                <a:latin typeface="Fjalla One" panose="02000506040000020004" pitchFamily="2" charset="0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00" b="0" i="0" u="none" strike="noStrike" cap="none">
                <a:solidFill>
                  <a:srgbClr val="000000"/>
                </a:solidFill>
                <a:latin typeface="Fjalla One" panose="02000506040000020004" pitchFamily="2" charset="0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00" b="0" i="0" u="none" strike="noStrike" cap="none">
                <a:solidFill>
                  <a:srgbClr val="000000"/>
                </a:solidFill>
                <a:latin typeface="Fjalla One" panose="02000506040000020004" pitchFamily="2" charset="0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00" b="0" i="0" u="none" strike="noStrike" cap="none">
                <a:solidFill>
                  <a:srgbClr val="000000"/>
                </a:solidFill>
                <a:latin typeface="Fjalla One" panose="02000506040000020004" pitchFamily="2" charset="0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/>
              <a:t>Umberto Della Monica – S.I.D.E.</a:t>
            </a:r>
            <a:endParaRPr lang="it-IT" dirty="0"/>
          </a:p>
        </p:txBody>
      </p:sp>
      <p:sp>
        <p:nvSpPr>
          <p:cNvPr id="3" name="Sottotitolo 12">
            <a:extLst>
              <a:ext uri="{FF2B5EF4-FFF2-40B4-BE49-F238E27FC236}">
                <a16:creationId xmlns:a16="http://schemas.microsoft.com/office/drawing/2014/main" id="{E61C720B-EEC3-CE6F-F3E6-27B163D6AA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205" y="1016412"/>
            <a:ext cx="2585139" cy="375000"/>
          </a:xfrm>
        </p:spPr>
        <p:txBody>
          <a:bodyPr/>
          <a:lstStyle/>
          <a:p>
            <a:r>
              <a:rPr lang="it-IT" dirty="0"/>
              <a:t>SNAP7 - Origini</a:t>
            </a:r>
          </a:p>
        </p:txBody>
      </p:sp>
      <p:sp>
        <p:nvSpPr>
          <p:cNvPr id="8" name="Sottotitolo 7">
            <a:extLst>
              <a:ext uri="{FF2B5EF4-FFF2-40B4-BE49-F238E27FC236}">
                <a16:creationId xmlns:a16="http://schemas.microsoft.com/office/drawing/2014/main" id="{C4AF81BB-7D32-DB75-A2DA-A2AD4DBF7B96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276204" y="1542707"/>
            <a:ext cx="3747155" cy="759000"/>
          </a:xfrm>
        </p:spPr>
        <p:txBody>
          <a:bodyPr/>
          <a:lstStyle/>
          <a:p>
            <a:r>
              <a:rPr lang="it-IT" dirty="0"/>
              <a:t>Protocollo proprietario Siemens per la comunicazione con PLC della serie S7. Snap7 è una libreria open-source che ne implementa le funzionalità principali (lettura/scrittura dati, controllo IO).</a:t>
            </a:r>
          </a:p>
        </p:txBody>
      </p:sp>
      <p:sp>
        <p:nvSpPr>
          <p:cNvPr id="11" name="Sottotitolo 7">
            <a:extLst>
              <a:ext uri="{FF2B5EF4-FFF2-40B4-BE49-F238E27FC236}">
                <a16:creationId xmlns:a16="http://schemas.microsoft.com/office/drawing/2014/main" id="{373316C3-3236-84B5-FCCC-B201BCA0F5C9}"/>
              </a:ext>
            </a:extLst>
          </p:cNvPr>
          <p:cNvSpPr txBox="1">
            <a:spLocks/>
          </p:cNvSpPr>
          <p:nvPr/>
        </p:nvSpPr>
        <p:spPr>
          <a:xfrm>
            <a:off x="276204" y="2841794"/>
            <a:ext cx="3259476" cy="996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it-IT" dirty="0"/>
              <a:t>Basato su TPDU (</a:t>
            </a:r>
            <a:r>
              <a:rPr lang="it-IT" dirty="0" err="1"/>
              <a:t>Transport</a:t>
            </a:r>
            <a:r>
              <a:rPr lang="it-IT" dirty="0"/>
              <a:t> </a:t>
            </a:r>
            <a:r>
              <a:rPr lang="it-IT" dirty="0" err="1"/>
              <a:t>Protocol</a:t>
            </a:r>
            <a:r>
              <a:rPr lang="it-IT" dirty="0"/>
              <a:t> Data Unit) e PDU (</a:t>
            </a:r>
            <a:r>
              <a:rPr lang="it-IT" dirty="0" err="1"/>
              <a:t>Protocol</a:t>
            </a:r>
            <a:r>
              <a:rPr lang="it-IT" dirty="0"/>
              <a:t> Data Unit).</a:t>
            </a:r>
            <a:br>
              <a:rPr lang="it-IT" dirty="0"/>
            </a:br>
            <a:r>
              <a:rPr lang="it-IT" dirty="0"/>
              <a:t>Ogni pacchetto contiene intestazione S7, parametri e dati utente.</a:t>
            </a:r>
          </a:p>
        </p:txBody>
      </p:sp>
      <p:sp>
        <p:nvSpPr>
          <p:cNvPr id="12" name="Sottotitolo 12">
            <a:extLst>
              <a:ext uri="{FF2B5EF4-FFF2-40B4-BE49-F238E27FC236}">
                <a16:creationId xmlns:a16="http://schemas.microsoft.com/office/drawing/2014/main" id="{0667767B-9099-A16D-C60E-005C2E8A8DF1}"/>
              </a:ext>
            </a:extLst>
          </p:cNvPr>
          <p:cNvSpPr txBox="1">
            <a:spLocks/>
          </p:cNvSpPr>
          <p:nvPr/>
        </p:nvSpPr>
        <p:spPr>
          <a:xfrm>
            <a:off x="276204" y="2571750"/>
            <a:ext cx="2585139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2ABA9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it-IT" dirty="0"/>
              <a:t>SNAP7 – Struttura del Pacchetto</a:t>
            </a:r>
          </a:p>
        </p:txBody>
      </p:sp>
      <p:pic>
        <p:nvPicPr>
          <p:cNvPr id="5" name="Immagine 4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697C214A-7330-ECB7-6185-85FB8E353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2601" y="1659524"/>
            <a:ext cx="4500115" cy="1389282"/>
          </a:xfrm>
          <a:prstGeom prst="rect">
            <a:avLst/>
          </a:prstGeom>
        </p:spPr>
      </p:pic>
      <p:sp>
        <p:nvSpPr>
          <p:cNvPr id="6" name="Sottotitolo 7">
            <a:extLst>
              <a:ext uri="{FF2B5EF4-FFF2-40B4-BE49-F238E27FC236}">
                <a16:creationId xmlns:a16="http://schemas.microsoft.com/office/drawing/2014/main" id="{F20B5300-E875-2AD9-DA6A-82732EB14EA4}"/>
              </a:ext>
            </a:extLst>
          </p:cNvPr>
          <p:cNvSpPr txBox="1">
            <a:spLocks/>
          </p:cNvSpPr>
          <p:nvPr/>
        </p:nvSpPr>
        <p:spPr>
          <a:xfrm>
            <a:off x="4032601" y="3402582"/>
            <a:ext cx="4234836" cy="996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it-IT" b="1" dirty="0"/>
              <a:t>Perché viene usato:</a:t>
            </a:r>
            <a:endParaRPr lang="it-IT" dirty="0"/>
          </a:p>
          <a:p>
            <a:r>
              <a:rPr lang="it-IT" dirty="0"/>
              <a:t>- Ottimizzato per il controllo e monitoraggio di dispositivi Siemens.</a:t>
            </a:r>
          </a:p>
          <a:p>
            <a:r>
              <a:rPr lang="it-IT" dirty="0"/>
              <a:t>- Elevata affidabilità e bassa latenza.</a:t>
            </a:r>
          </a:p>
          <a:p>
            <a:r>
              <a:rPr lang="it-IT" dirty="0"/>
              <a:t>- Ampiamente usato in ambienti SCADA e automazione industriale.</a:t>
            </a:r>
          </a:p>
        </p:txBody>
      </p:sp>
    </p:spTree>
    <p:extLst>
      <p:ext uri="{BB962C8B-B14F-4D97-AF65-F5344CB8AC3E}">
        <p14:creationId xmlns:p14="http://schemas.microsoft.com/office/powerpoint/2010/main" val="1863744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0E644-0CC1-C62F-4098-E8A459B56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olo 23">
            <a:extLst>
              <a:ext uri="{FF2B5EF4-FFF2-40B4-BE49-F238E27FC236}">
                <a16:creationId xmlns:a16="http://schemas.microsoft.com/office/drawing/2014/main" id="{A31001C5-4914-E0A4-4E27-EF01CDDA8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GB" sz="4400" dirty="0">
                <a:solidFill>
                  <a:srgbClr val="494949"/>
                </a:solidFill>
              </a:rPr>
            </a:br>
            <a:endParaRPr lang="en-US" sz="4400" dirty="0"/>
          </a:p>
        </p:txBody>
      </p:sp>
      <p:sp>
        <p:nvSpPr>
          <p:cNvPr id="2" name="Sottotitolo 1">
            <a:extLst>
              <a:ext uri="{FF2B5EF4-FFF2-40B4-BE49-F238E27FC236}">
                <a16:creationId xmlns:a16="http://schemas.microsoft.com/office/drawing/2014/main" id="{FA785413-4280-958B-5871-2744963D08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6175" y="1199496"/>
            <a:ext cx="1945200" cy="375000"/>
          </a:xfrm>
        </p:spPr>
        <p:txBody>
          <a:bodyPr/>
          <a:lstStyle/>
          <a:p>
            <a:r>
              <a:rPr lang="it-IT" dirty="0" err="1"/>
              <a:t>Radix</a:t>
            </a:r>
            <a:r>
              <a:rPr lang="it-IT" dirty="0"/>
              <a:t> Tree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5362C97-FC75-39F2-E1CE-52C789697201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596175" y="1592688"/>
            <a:ext cx="1945200" cy="1104840"/>
          </a:xfrm>
        </p:spPr>
        <p:txBody>
          <a:bodyPr/>
          <a:lstStyle/>
          <a:p>
            <a:r>
              <a:rPr lang="it-IT" dirty="0"/>
              <a:t>E’ la struttura utilizzata per contenere le regole del nostro IDS attraverso un file JSON </a:t>
            </a:r>
          </a:p>
        </p:txBody>
      </p:sp>
      <p:sp>
        <p:nvSpPr>
          <p:cNvPr id="4" name="Sottotitolo 3">
            <a:extLst>
              <a:ext uri="{FF2B5EF4-FFF2-40B4-BE49-F238E27FC236}">
                <a16:creationId xmlns:a16="http://schemas.microsoft.com/office/drawing/2014/main" id="{E6DF950F-9741-061A-CAD6-A35E0041E8D2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5568471" y="1060845"/>
            <a:ext cx="1947600" cy="375000"/>
          </a:xfrm>
        </p:spPr>
        <p:txBody>
          <a:bodyPr/>
          <a:lstStyle/>
          <a:p>
            <a:r>
              <a:rPr lang="it-IT" dirty="0"/>
              <a:t>Z-Score </a:t>
            </a:r>
          </a:p>
        </p:txBody>
      </p:sp>
      <p:sp>
        <p:nvSpPr>
          <p:cNvPr id="5" name="Sottotitolo 4">
            <a:extLst>
              <a:ext uri="{FF2B5EF4-FFF2-40B4-BE49-F238E27FC236}">
                <a16:creationId xmlns:a16="http://schemas.microsoft.com/office/drawing/2014/main" id="{809867D8-3857-C7EF-BC2A-996B518E588B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5568471" y="1222557"/>
            <a:ext cx="3176933" cy="1367716"/>
          </a:xfrm>
        </p:spPr>
        <p:txBody>
          <a:bodyPr/>
          <a:lstStyle/>
          <a:p>
            <a:r>
              <a:rPr lang="it-IT" dirty="0"/>
              <a:t>Valuta anomalie nei flussi SCADA usando la deviazione standard rispetto a baseline </a:t>
            </a:r>
          </a:p>
          <a:p>
            <a:r>
              <a:rPr lang="it-IT" dirty="0"/>
              <a:t>per ciascun dispositivo e protocollo</a:t>
            </a:r>
          </a:p>
          <a:p>
            <a:endParaRPr lang="it-IT" dirty="0"/>
          </a:p>
          <a:p>
            <a:r>
              <a:rPr lang="it-IT" b="1" dirty="0"/>
              <a:t>Aggiornamento dinamico</a:t>
            </a:r>
            <a:r>
              <a:rPr lang="it-IT" dirty="0"/>
              <a:t> / </a:t>
            </a:r>
            <a:r>
              <a:rPr lang="it-IT" b="1" dirty="0"/>
              <a:t>Aggregazione</a:t>
            </a:r>
            <a:r>
              <a:rPr lang="it-IT" dirty="0"/>
              <a:t> </a:t>
            </a:r>
          </a:p>
        </p:txBody>
      </p:sp>
      <p:sp>
        <p:nvSpPr>
          <p:cNvPr id="6" name="Sottotitolo 5">
            <a:extLst>
              <a:ext uri="{FF2B5EF4-FFF2-40B4-BE49-F238E27FC236}">
                <a16:creationId xmlns:a16="http://schemas.microsoft.com/office/drawing/2014/main" id="{FBB10A9E-258F-383F-2FDD-4589EC0C48B5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3117600" y="1133663"/>
            <a:ext cx="1945200" cy="375000"/>
          </a:xfrm>
        </p:spPr>
        <p:txBody>
          <a:bodyPr/>
          <a:lstStyle/>
          <a:p>
            <a:r>
              <a:rPr lang="it-IT" dirty="0"/>
              <a:t>Rule Pattern Matching</a:t>
            </a:r>
          </a:p>
        </p:txBody>
      </p:sp>
      <p:sp>
        <p:nvSpPr>
          <p:cNvPr id="7" name="Sottotitolo 6">
            <a:extLst>
              <a:ext uri="{FF2B5EF4-FFF2-40B4-BE49-F238E27FC236}">
                <a16:creationId xmlns:a16="http://schemas.microsoft.com/office/drawing/2014/main" id="{9513BF32-606F-4CD9-538E-BF6093BCB913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3117600" y="1370662"/>
            <a:ext cx="2073075" cy="1486408"/>
          </a:xfrm>
        </p:spPr>
        <p:txBody>
          <a:bodyPr/>
          <a:lstStyle/>
          <a:p>
            <a:r>
              <a:rPr lang="it-IT" dirty="0"/>
              <a:t>Il primo livello di sicurezza dell’IDS che riesce attraverso euristiche a </a:t>
            </a:r>
            <a:r>
              <a:rPr lang="it-IT" dirty="0" err="1"/>
              <a:t>matchare</a:t>
            </a:r>
            <a:r>
              <a:rPr lang="it-IT" dirty="0"/>
              <a:t> solo i pacchetti che ci interessano :</a:t>
            </a:r>
          </a:p>
          <a:p>
            <a:endParaRPr lang="it-IT" dirty="0"/>
          </a:p>
          <a:p>
            <a:pPr marL="171450" indent="-171450">
              <a:buFontTx/>
              <a:buChar char="-"/>
            </a:pPr>
            <a:r>
              <a:rPr lang="it-IT" dirty="0"/>
              <a:t>OPC-UA</a:t>
            </a:r>
          </a:p>
          <a:p>
            <a:pPr marL="171450" indent="-171450">
              <a:buFontTx/>
              <a:buChar char="-"/>
            </a:pPr>
            <a:r>
              <a:rPr lang="it-IT" dirty="0"/>
              <a:t>MODBUS</a:t>
            </a:r>
          </a:p>
          <a:p>
            <a:pPr marL="171450" indent="-171450">
              <a:buFontTx/>
              <a:buChar char="-"/>
            </a:pPr>
            <a:r>
              <a:rPr lang="it-IT" dirty="0"/>
              <a:t>S7</a:t>
            </a:r>
          </a:p>
        </p:txBody>
      </p:sp>
      <p:sp>
        <p:nvSpPr>
          <p:cNvPr id="8" name="Sottotitolo 7">
            <a:extLst>
              <a:ext uri="{FF2B5EF4-FFF2-40B4-BE49-F238E27FC236}">
                <a16:creationId xmlns:a16="http://schemas.microsoft.com/office/drawing/2014/main" id="{E80E70E8-BED3-79EF-F33E-480860C8169F}"/>
              </a:ext>
            </a:extLst>
          </p:cNvPr>
          <p:cNvSpPr>
            <a:spLocks noGrp="1"/>
          </p:cNvSpPr>
          <p:nvPr>
            <p:ph type="subTitle" idx="7"/>
          </p:nvPr>
        </p:nvSpPr>
        <p:spPr>
          <a:xfrm>
            <a:off x="5492466" y="2667598"/>
            <a:ext cx="1993500" cy="375000"/>
          </a:xfrm>
        </p:spPr>
        <p:txBody>
          <a:bodyPr/>
          <a:lstStyle/>
          <a:p>
            <a:r>
              <a:rPr lang="it-IT" dirty="0"/>
              <a:t>Machine Learning</a:t>
            </a:r>
          </a:p>
        </p:txBody>
      </p:sp>
      <p:sp>
        <p:nvSpPr>
          <p:cNvPr id="9" name="Sottotitolo 8">
            <a:extLst>
              <a:ext uri="{FF2B5EF4-FFF2-40B4-BE49-F238E27FC236}">
                <a16:creationId xmlns:a16="http://schemas.microsoft.com/office/drawing/2014/main" id="{56358EC1-CAAE-765E-B5D7-2A0243A4A159}"/>
              </a:ext>
            </a:extLst>
          </p:cNvPr>
          <p:cNvSpPr>
            <a:spLocks noGrp="1"/>
          </p:cNvSpPr>
          <p:nvPr>
            <p:ph type="subTitle" idx="8"/>
          </p:nvPr>
        </p:nvSpPr>
        <p:spPr>
          <a:xfrm>
            <a:off x="5559165" y="3052290"/>
            <a:ext cx="2250638" cy="848852"/>
          </a:xfrm>
        </p:spPr>
        <p:txBody>
          <a:bodyPr/>
          <a:lstStyle/>
          <a:p>
            <a:r>
              <a:rPr lang="it-IT" dirty="0"/>
              <a:t>E’ il terzo livello di sicurezza dove si predispone per ogni protocollo un modello di machine Learning specializzato</a:t>
            </a:r>
          </a:p>
        </p:txBody>
      </p:sp>
      <p:sp>
        <p:nvSpPr>
          <p:cNvPr id="14" name="Titolo 23">
            <a:extLst>
              <a:ext uri="{FF2B5EF4-FFF2-40B4-BE49-F238E27FC236}">
                <a16:creationId xmlns:a16="http://schemas.microsoft.com/office/drawing/2014/main" id="{28620270-7C67-215F-6DCA-D6D7F9E5CEB9}"/>
              </a:ext>
            </a:extLst>
          </p:cNvPr>
          <p:cNvSpPr txBox="1">
            <a:spLocks/>
          </p:cNvSpPr>
          <p:nvPr/>
        </p:nvSpPr>
        <p:spPr>
          <a:xfrm>
            <a:off x="1500815" y="244501"/>
            <a:ext cx="6140959" cy="5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n-US" dirty="0"/>
              <a:t>5 - IDS – ( side-sniff ) </a:t>
            </a:r>
          </a:p>
          <a:p>
            <a:endParaRPr lang="it-IT" dirty="0"/>
          </a:p>
        </p:txBody>
      </p:sp>
      <p:sp>
        <p:nvSpPr>
          <p:cNvPr id="11" name="Segnaposto contenuto 12">
            <a:extLst>
              <a:ext uri="{FF2B5EF4-FFF2-40B4-BE49-F238E27FC236}">
                <a16:creationId xmlns:a16="http://schemas.microsoft.com/office/drawing/2014/main" id="{A41AF9AB-C78C-DA70-47D9-2AD92072AC6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2133" y="4827883"/>
            <a:ext cx="7954963" cy="250825"/>
          </a:xfrm>
        </p:spPr>
        <p:txBody>
          <a:bodyPr/>
          <a:lstStyle/>
          <a:p>
            <a:r>
              <a:rPr lang="it-IT" dirty="0"/>
              <a:t>Umberto Della Monica – S.I.D.E.</a:t>
            </a:r>
          </a:p>
        </p:txBody>
      </p:sp>
      <p:pic>
        <p:nvPicPr>
          <p:cNvPr id="12" name="Immagine 11" descr="Immagine che contiene testo, schermat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7A052C3A-F6ED-F630-1E11-3CE767389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800" y="2372418"/>
            <a:ext cx="1409624" cy="2114436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CDD56949-FD1D-ECC3-3B93-2F3B056F5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5429" y="3072533"/>
            <a:ext cx="1205865" cy="1488182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152D7975-BC7F-14D7-72A8-70EF42EB41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0652" y="2237576"/>
            <a:ext cx="1109151" cy="518210"/>
          </a:xfrm>
          <a:prstGeom prst="rect">
            <a:avLst/>
          </a:prstGeom>
        </p:spPr>
      </p:pic>
      <p:pic>
        <p:nvPicPr>
          <p:cNvPr id="18" name="Immagine 17" descr="Isolation Forest Made Easy &amp; How To Tutorial">
            <a:extLst>
              <a:ext uri="{FF2B5EF4-FFF2-40B4-BE49-F238E27FC236}">
                <a16:creationId xmlns:a16="http://schemas.microsoft.com/office/drawing/2014/main" id="{D4A1556F-7BC5-1258-08BB-A2A25C3359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9341" y="3760504"/>
            <a:ext cx="1876859" cy="955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556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10F92-45F6-4CC0-E305-E19F507E5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olo 23">
            <a:extLst>
              <a:ext uri="{FF2B5EF4-FFF2-40B4-BE49-F238E27FC236}">
                <a16:creationId xmlns:a16="http://schemas.microsoft.com/office/drawing/2014/main" id="{CBEF1E46-768F-4187-8E92-CA45E8014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GB" sz="4400" dirty="0">
                <a:solidFill>
                  <a:srgbClr val="494949"/>
                </a:solidFill>
              </a:rPr>
            </a:br>
            <a:endParaRPr lang="en-US" sz="4400" dirty="0"/>
          </a:p>
        </p:txBody>
      </p:sp>
      <p:sp>
        <p:nvSpPr>
          <p:cNvPr id="14" name="Titolo 23">
            <a:extLst>
              <a:ext uri="{FF2B5EF4-FFF2-40B4-BE49-F238E27FC236}">
                <a16:creationId xmlns:a16="http://schemas.microsoft.com/office/drawing/2014/main" id="{C400FD73-C176-7833-EA7D-DDE99AB32053}"/>
              </a:ext>
            </a:extLst>
          </p:cNvPr>
          <p:cNvSpPr txBox="1">
            <a:spLocks/>
          </p:cNvSpPr>
          <p:nvPr/>
        </p:nvSpPr>
        <p:spPr>
          <a:xfrm>
            <a:off x="1500815" y="244501"/>
            <a:ext cx="6140959" cy="5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n-US" dirty="0"/>
              <a:t>5 - IDS – ( side-sniff ) </a:t>
            </a:r>
          </a:p>
          <a:p>
            <a:endParaRPr lang="it-IT" dirty="0"/>
          </a:p>
        </p:txBody>
      </p:sp>
      <p:sp>
        <p:nvSpPr>
          <p:cNvPr id="11" name="Segnaposto contenuto 12">
            <a:extLst>
              <a:ext uri="{FF2B5EF4-FFF2-40B4-BE49-F238E27FC236}">
                <a16:creationId xmlns:a16="http://schemas.microsoft.com/office/drawing/2014/main" id="{7A4B018F-EF18-8BD8-DDEC-EC321BEC042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2133" y="4827883"/>
            <a:ext cx="7954963" cy="250825"/>
          </a:xfrm>
        </p:spPr>
        <p:txBody>
          <a:bodyPr/>
          <a:lstStyle/>
          <a:p>
            <a:r>
              <a:rPr lang="it-IT" dirty="0"/>
              <a:t>Umberto Della Monica – S.I.D.E.</a:t>
            </a:r>
          </a:p>
        </p:txBody>
      </p:sp>
      <p:sp>
        <p:nvSpPr>
          <p:cNvPr id="13" name="Sottotitolo 12">
            <a:extLst>
              <a:ext uri="{FF2B5EF4-FFF2-40B4-BE49-F238E27FC236}">
                <a16:creationId xmlns:a16="http://schemas.microsoft.com/office/drawing/2014/main" id="{876D0E6F-3E5D-0838-9BDB-71AAFF5671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205" y="1016412"/>
            <a:ext cx="2585139" cy="375000"/>
          </a:xfrm>
        </p:spPr>
        <p:txBody>
          <a:bodyPr/>
          <a:lstStyle/>
          <a:p>
            <a:r>
              <a:rPr lang="it-IT" dirty="0" err="1"/>
              <a:t>Dispatcher</a:t>
            </a:r>
            <a:r>
              <a:rPr lang="it-IT" dirty="0"/>
              <a:t> – </a:t>
            </a:r>
            <a:r>
              <a:rPr lang="it-IT" dirty="0" err="1"/>
              <a:t>Handlers</a:t>
            </a:r>
            <a:r>
              <a:rPr lang="it-IT" dirty="0"/>
              <a:t> - Decoders</a:t>
            </a:r>
          </a:p>
        </p:txBody>
      </p:sp>
      <p:sp>
        <p:nvSpPr>
          <p:cNvPr id="19" name="Sottotitolo 18">
            <a:extLst>
              <a:ext uri="{FF2B5EF4-FFF2-40B4-BE49-F238E27FC236}">
                <a16:creationId xmlns:a16="http://schemas.microsoft.com/office/drawing/2014/main" id="{A02BC1F3-93EA-9041-9D2F-A17C805EE9BC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367130" y="1490028"/>
            <a:ext cx="4059817" cy="2786744"/>
          </a:xfrm>
        </p:spPr>
        <p:txBody>
          <a:bodyPr/>
          <a:lstStyle/>
          <a:p>
            <a:r>
              <a:rPr lang="it-IT" dirty="0"/>
              <a:t>L’IDS ha un </a:t>
            </a:r>
            <a:r>
              <a:rPr lang="it-IT" b="1" dirty="0" err="1"/>
              <a:t>dispatcher</a:t>
            </a:r>
            <a:r>
              <a:rPr lang="it-IT" dirty="0"/>
              <a:t> che permette di effettuare valutazioni verticali per ogni specifico protocollo in ambiente SCADA.</a:t>
            </a:r>
          </a:p>
          <a:p>
            <a:endParaRPr lang="it-IT" dirty="0"/>
          </a:p>
          <a:p>
            <a:pPr marL="171450" indent="-171450">
              <a:buFontTx/>
              <a:buChar char="-"/>
            </a:pPr>
            <a:r>
              <a:rPr lang="it-IT" dirty="0"/>
              <a:t>Per ogni protocollo è associato un </a:t>
            </a:r>
            <a:r>
              <a:rPr lang="it-IT" b="1" dirty="0"/>
              <a:t>Handler</a:t>
            </a:r>
            <a:r>
              <a:rPr lang="it-IT" dirty="0"/>
              <a:t> dove al suo interno si individua il tipo di pacchetto che viene catturato se a livello di  Trasporto ( Layer 4 ) / IP ( Layer 3 ) </a:t>
            </a:r>
            <a:br>
              <a:rPr lang="it-IT" dirty="0"/>
            </a:br>
            <a:endParaRPr lang="it-IT" dirty="0"/>
          </a:p>
          <a:p>
            <a:pPr marL="171450" indent="-171450">
              <a:buFontTx/>
              <a:buChar char="-"/>
            </a:pPr>
            <a:r>
              <a:rPr lang="it-IT" dirty="0"/>
              <a:t>Una volta che vengono individuate tutte le caratteristiche si effettua un parsing mediante l’uso di </a:t>
            </a:r>
            <a:r>
              <a:rPr lang="it-IT" b="1" dirty="0"/>
              <a:t>Decoders</a:t>
            </a:r>
          </a:p>
          <a:p>
            <a:endParaRPr lang="it-IT" b="1" dirty="0"/>
          </a:p>
          <a:p>
            <a:pPr marL="171450" indent="-171450">
              <a:buFontTx/>
              <a:buChar char="-"/>
            </a:pPr>
            <a:r>
              <a:rPr lang="it-IT" dirty="0"/>
              <a:t>Ogni decoder poi a sua volta individua determinate caratteristiche particolari di quel protocollo e di seguito i dati vengono sottoposti all’analisi delle metriche di valutazione</a:t>
            </a:r>
          </a:p>
          <a:p>
            <a:pPr marL="171450" indent="-171450">
              <a:buFontTx/>
              <a:buChar char="-"/>
            </a:pPr>
            <a:endParaRPr lang="it-IT" dirty="0"/>
          </a:p>
        </p:txBody>
      </p:sp>
      <p:pic>
        <p:nvPicPr>
          <p:cNvPr id="34" name="Immagine 33">
            <a:extLst>
              <a:ext uri="{FF2B5EF4-FFF2-40B4-BE49-F238E27FC236}">
                <a16:creationId xmlns:a16="http://schemas.microsoft.com/office/drawing/2014/main" id="{FF363C6B-5E0D-8343-9A0B-12663E9EF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049" y="940016"/>
            <a:ext cx="1492245" cy="1774341"/>
          </a:xfrm>
          <a:prstGeom prst="rect">
            <a:avLst/>
          </a:prstGeom>
        </p:spPr>
      </p:pic>
      <p:pic>
        <p:nvPicPr>
          <p:cNvPr id="36" name="Immagine 35">
            <a:extLst>
              <a:ext uri="{FF2B5EF4-FFF2-40B4-BE49-F238E27FC236}">
                <a16:creationId xmlns:a16="http://schemas.microsoft.com/office/drawing/2014/main" id="{BE41078D-98FE-83EF-FD33-B6DF1FDFCA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7608" y="3729327"/>
            <a:ext cx="2434033" cy="785436"/>
          </a:xfrm>
          <a:prstGeom prst="rect">
            <a:avLst/>
          </a:prstGeom>
        </p:spPr>
      </p:pic>
      <p:pic>
        <p:nvPicPr>
          <p:cNvPr id="38" name="Immagine 37">
            <a:extLst>
              <a:ext uri="{FF2B5EF4-FFF2-40B4-BE49-F238E27FC236}">
                <a16:creationId xmlns:a16="http://schemas.microsoft.com/office/drawing/2014/main" id="{E27F1109-D23E-8B02-7C69-84CF30326B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8726" y="971025"/>
            <a:ext cx="1317765" cy="2295584"/>
          </a:xfrm>
          <a:prstGeom prst="rect">
            <a:avLst/>
          </a:prstGeom>
        </p:spPr>
      </p:pic>
      <p:sp>
        <p:nvSpPr>
          <p:cNvPr id="39" name="Sottotitolo 18">
            <a:extLst>
              <a:ext uri="{FF2B5EF4-FFF2-40B4-BE49-F238E27FC236}">
                <a16:creationId xmlns:a16="http://schemas.microsoft.com/office/drawing/2014/main" id="{EC67AC16-C222-A29C-3480-4398F44F9C23}"/>
              </a:ext>
            </a:extLst>
          </p:cNvPr>
          <p:cNvSpPr txBox="1">
            <a:spLocks/>
          </p:cNvSpPr>
          <p:nvPr/>
        </p:nvSpPr>
        <p:spPr>
          <a:xfrm>
            <a:off x="4617601" y="3183214"/>
            <a:ext cx="1388890" cy="5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it-IT" dirty="0"/>
              <a:t>S7 – Support Decoders</a:t>
            </a:r>
          </a:p>
        </p:txBody>
      </p:sp>
      <p:sp>
        <p:nvSpPr>
          <p:cNvPr id="40" name="Sottotitolo 18">
            <a:extLst>
              <a:ext uri="{FF2B5EF4-FFF2-40B4-BE49-F238E27FC236}">
                <a16:creationId xmlns:a16="http://schemas.microsoft.com/office/drawing/2014/main" id="{BE06B160-906A-41B1-D568-ACAB9EC3294E}"/>
              </a:ext>
            </a:extLst>
          </p:cNvPr>
          <p:cNvSpPr txBox="1">
            <a:spLocks/>
          </p:cNvSpPr>
          <p:nvPr/>
        </p:nvSpPr>
        <p:spPr>
          <a:xfrm>
            <a:off x="7781640" y="4122045"/>
            <a:ext cx="1388890" cy="5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it-IT" dirty="0"/>
              <a:t>OPC-UA – Support Decoder payload</a:t>
            </a:r>
          </a:p>
        </p:txBody>
      </p:sp>
      <p:sp>
        <p:nvSpPr>
          <p:cNvPr id="41" name="Sottotitolo 18">
            <a:extLst>
              <a:ext uri="{FF2B5EF4-FFF2-40B4-BE49-F238E27FC236}">
                <a16:creationId xmlns:a16="http://schemas.microsoft.com/office/drawing/2014/main" id="{2B482F63-5247-A7CF-DC03-09749B29430D}"/>
              </a:ext>
            </a:extLst>
          </p:cNvPr>
          <p:cNvSpPr txBox="1">
            <a:spLocks/>
          </p:cNvSpPr>
          <p:nvPr/>
        </p:nvSpPr>
        <p:spPr>
          <a:xfrm>
            <a:off x="6452142" y="2714357"/>
            <a:ext cx="1388890" cy="5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it-IT" dirty="0"/>
              <a:t>MODBUS – Support Decoder payload</a:t>
            </a:r>
          </a:p>
        </p:txBody>
      </p:sp>
    </p:spTree>
    <p:extLst>
      <p:ext uri="{BB962C8B-B14F-4D97-AF65-F5344CB8AC3E}">
        <p14:creationId xmlns:p14="http://schemas.microsoft.com/office/powerpoint/2010/main" val="9796467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8BACB-16F7-03E1-958D-722C9DDB2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olo 23">
            <a:extLst>
              <a:ext uri="{FF2B5EF4-FFF2-40B4-BE49-F238E27FC236}">
                <a16:creationId xmlns:a16="http://schemas.microsoft.com/office/drawing/2014/main" id="{AE3A312D-003D-4259-F563-CCA6F6C1F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GB" sz="4400" dirty="0">
                <a:solidFill>
                  <a:srgbClr val="494949"/>
                </a:solidFill>
              </a:rPr>
            </a:br>
            <a:endParaRPr lang="en-US" sz="4400" dirty="0"/>
          </a:p>
        </p:txBody>
      </p:sp>
      <p:sp>
        <p:nvSpPr>
          <p:cNvPr id="14" name="Titolo 23">
            <a:extLst>
              <a:ext uri="{FF2B5EF4-FFF2-40B4-BE49-F238E27FC236}">
                <a16:creationId xmlns:a16="http://schemas.microsoft.com/office/drawing/2014/main" id="{8E7C198C-2609-8AC9-3A84-E8E8A5516F2E}"/>
              </a:ext>
            </a:extLst>
          </p:cNvPr>
          <p:cNvSpPr txBox="1">
            <a:spLocks/>
          </p:cNvSpPr>
          <p:nvPr/>
        </p:nvSpPr>
        <p:spPr>
          <a:xfrm>
            <a:off x="1500815" y="244501"/>
            <a:ext cx="6140959" cy="5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n-US" dirty="0"/>
              <a:t>5 - IDS – ( side-sniff ) </a:t>
            </a:r>
          </a:p>
          <a:p>
            <a:endParaRPr lang="it-IT" dirty="0"/>
          </a:p>
        </p:txBody>
      </p:sp>
      <p:sp>
        <p:nvSpPr>
          <p:cNvPr id="11" name="Segnaposto contenuto 12">
            <a:extLst>
              <a:ext uri="{FF2B5EF4-FFF2-40B4-BE49-F238E27FC236}">
                <a16:creationId xmlns:a16="http://schemas.microsoft.com/office/drawing/2014/main" id="{A42CDDBE-8355-9AEA-FB48-A0498A123CB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2133" y="4827883"/>
            <a:ext cx="7954963" cy="250825"/>
          </a:xfrm>
        </p:spPr>
        <p:txBody>
          <a:bodyPr/>
          <a:lstStyle/>
          <a:p>
            <a:r>
              <a:rPr lang="it-IT" dirty="0"/>
              <a:t>Umberto Della Monica – S.I.D.E.</a:t>
            </a:r>
          </a:p>
        </p:txBody>
      </p:sp>
      <p:sp>
        <p:nvSpPr>
          <p:cNvPr id="13" name="Sottotitolo 12">
            <a:extLst>
              <a:ext uri="{FF2B5EF4-FFF2-40B4-BE49-F238E27FC236}">
                <a16:creationId xmlns:a16="http://schemas.microsoft.com/office/drawing/2014/main" id="{7A9F634F-1CED-37F9-5C0E-4AB7C332AC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2555" y="736483"/>
            <a:ext cx="2585139" cy="375000"/>
          </a:xfrm>
        </p:spPr>
        <p:txBody>
          <a:bodyPr/>
          <a:lstStyle/>
          <a:p>
            <a:r>
              <a:rPr lang="it-IT" dirty="0"/>
              <a:t>Z-Score - </a:t>
            </a:r>
            <a:r>
              <a:rPr lang="it-IT" dirty="0" err="1"/>
              <a:t>Metrics</a:t>
            </a:r>
            <a:endParaRPr lang="it-IT" dirty="0"/>
          </a:p>
        </p:txBody>
      </p:sp>
      <p:sp>
        <p:nvSpPr>
          <p:cNvPr id="19" name="Sottotitolo 18">
            <a:extLst>
              <a:ext uri="{FF2B5EF4-FFF2-40B4-BE49-F238E27FC236}">
                <a16:creationId xmlns:a16="http://schemas.microsoft.com/office/drawing/2014/main" id="{D9C04908-B855-5EAA-04DB-5FA3602A7CC0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362555" y="1027801"/>
            <a:ext cx="4683594" cy="3647956"/>
          </a:xfrm>
        </p:spPr>
        <p:txBody>
          <a:bodyPr/>
          <a:lstStyle/>
          <a:p>
            <a:r>
              <a:rPr lang="it-IT" dirty="0"/>
              <a:t>All’interno dell’IDS lo Z-Score rappresenta la prima linea di difesa per individuare un’eventuale anomalia.</a:t>
            </a:r>
          </a:p>
          <a:p>
            <a:endParaRPr lang="it-IT" dirty="0"/>
          </a:p>
          <a:p>
            <a:r>
              <a:rPr lang="it-IT" dirty="0"/>
              <a:t>Calcola lo Z-Score mediante tre proprietà : </a:t>
            </a:r>
          </a:p>
          <a:p>
            <a:pPr marL="171450" indent="-171450">
              <a:buFontTx/>
              <a:buChar char="-"/>
            </a:pPr>
            <a:r>
              <a:rPr lang="it-IT" b="1" dirty="0" err="1"/>
              <a:t>function_code</a:t>
            </a:r>
            <a:r>
              <a:rPr lang="it-IT" dirty="0"/>
              <a:t> </a:t>
            </a:r>
          </a:p>
          <a:p>
            <a:pPr marL="171450" indent="-171450">
              <a:buFontTx/>
              <a:buChar char="-"/>
            </a:pPr>
            <a:r>
              <a:rPr lang="it-IT" b="1" dirty="0" err="1"/>
              <a:t>data_length</a:t>
            </a:r>
            <a:endParaRPr lang="it-IT" b="1" dirty="0"/>
          </a:p>
          <a:p>
            <a:pPr marL="171450" indent="-171450">
              <a:buFontTx/>
              <a:buChar char="-"/>
            </a:pPr>
            <a:r>
              <a:rPr lang="it-IT" dirty="0"/>
              <a:t>Tempi di risposta </a:t>
            </a:r>
          </a:p>
          <a:p>
            <a:endParaRPr lang="it-IT" dirty="0"/>
          </a:p>
          <a:p>
            <a:r>
              <a:rPr lang="it-IT" dirty="0"/>
              <a:t>Utilizza una finestra temporale per poter aggregare gli eventi ed evitare falsi positivi </a:t>
            </a:r>
          </a:p>
          <a:p>
            <a:endParaRPr lang="it-IT" dirty="0"/>
          </a:p>
          <a:p>
            <a:r>
              <a:rPr lang="it-IT" dirty="0"/>
              <a:t>Utilizza anche una metrica di aggiornamento dinamico per il comportamento baseline che è stato evidenziato ( </a:t>
            </a:r>
            <a:r>
              <a:rPr lang="it-IT" b="1" dirty="0"/>
              <a:t>EMA</a:t>
            </a:r>
            <a:r>
              <a:rPr lang="it-IT" dirty="0"/>
              <a:t>  o media progressiva ) </a:t>
            </a:r>
          </a:p>
          <a:p>
            <a:endParaRPr lang="it-IT" dirty="0"/>
          </a:p>
          <a:p>
            <a:r>
              <a:rPr lang="it-IT" dirty="0"/>
              <a:t>Viene configurato in maniera </a:t>
            </a:r>
            <a:r>
              <a:rPr lang="it-IT" dirty="0" err="1"/>
              <a:t>thread</a:t>
            </a:r>
            <a:r>
              <a:rPr lang="it-IT" dirty="0"/>
              <a:t>-safe per singolo Device e per Protocollo.</a:t>
            </a:r>
          </a:p>
          <a:p>
            <a:endParaRPr lang="it-IT" dirty="0"/>
          </a:p>
          <a:p>
            <a:r>
              <a:rPr lang="it-IT" dirty="0"/>
              <a:t>Nel caso in cui si ha una segnalazione da parte di questa metrica viene pubblicato un evento mediante </a:t>
            </a:r>
            <a:r>
              <a:rPr lang="it-IT" dirty="0" err="1"/>
              <a:t>RabbitMQ</a:t>
            </a:r>
            <a:r>
              <a:rPr lang="it-IT" dirty="0"/>
              <a:t> al modulo (</a:t>
            </a:r>
            <a:r>
              <a:rPr lang="it-IT" b="1" dirty="0"/>
              <a:t>side-device-</a:t>
            </a:r>
            <a:r>
              <a:rPr lang="it-IT" b="1" dirty="0" err="1"/>
              <a:t>discovery</a:t>
            </a:r>
            <a:r>
              <a:rPr lang="it-IT" dirty="0"/>
              <a:t>)</a:t>
            </a:r>
          </a:p>
          <a:p>
            <a:endParaRPr lang="it-IT" dirty="0"/>
          </a:p>
          <a:p>
            <a:endParaRPr lang="it-IT" dirty="0"/>
          </a:p>
        </p:txBody>
      </p:sp>
      <p:pic>
        <p:nvPicPr>
          <p:cNvPr id="1028" name="Picture 4" descr="What is a z-score? What is a p-value?—ArcGIS Pro | Documentation">
            <a:extLst>
              <a:ext uri="{FF2B5EF4-FFF2-40B4-BE49-F238E27FC236}">
                <a16:creationId xmlns:a16="http://schemas.microsoft.com/office/drawing/2014/main" id="{C1B2A340-F63A-3FFC-C456-D0A28DF35D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6149" y="1007664"/>
            <a:ext cx="3159988" cy="2144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ottotitolo 6">
            <a:extLst>
              <a:ext uri="{FF2B5EF4-FFF2-40B4-BE49-F238E27FC236}">
                <a16:creationId xmlns:a16="http://schemas.microsoft.com/office/drawing/2014/main" id="{AA7A9F2D-1AC4-D06F-3826-15EA0B37586E}"/>
              </a:ext>
            </a:extLst>
          </p:cNvPr>
          <p:cNvSpPr txBox="1">
            <a:spLocks/>
          </p:cNvSpPr>
          <p:nvPr/>
        </p:nvSpPr>
        <p:spPr>
          <a:xfrm>
            <a:off x="4944006" y="3140918"/>
            <a:ext cx="1889501" cy="35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it-IT" i="1" dirty="0"/>
              <a:t>Esempio : Z-Score Evaluation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AF32C066-9A9D-E81A-38F7-6046FB53B42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7209" b="39281"/>
          <a:stretch>
            <a:fillRect/>
          </a:stretch>
        </p:blipFill>
        <p:spPr>
          <a:xfrm>
            <a:off x="4944006" y="3534664"/>
            <a:ext cx="4097852" cy="355804"/>
          </a:xfrm>
          <a:prstGeom prst="rect">
            <a:avLst/>
          </a:prstGeom>
        </p:spPr>
      </p:pic>
      <p:sp>
        <p:nvSpPr>
          <p:cNvPr id="4" name="Sottotitolo 6">
            <a:extLst>
              <a:ext uri="{FF2B5EF4-FFF2-40B4-BE49-F238E27FC236}">
                <a16:creationId xmlns:a16="http://schemas.microsoft.com/office/drawing/2014/main" id="{74090310-2D17-EDEF-9760-E717479CCDB3}"/>
              </a:ext>
            </a:extLst>
          </p:cNvPr>
          <p:cNvSpPr txBox="1">
            <a:spLocks/>
          </p:cNvSpPr>
          <p:nvPr/>
        </p:nvSpPr>
        <p:spPr>
          <a:xfrm>
            <a:off x="7031970" y="3832988"/>
            <a:ext cx="2348334" cy="56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it-IT" i="1" dirty="0"/>
              <a:t>Esempio : Z-Score Evaluation on S.I.D.E. system</a:t>
            </a:r>
          </a:p>
        </p:txBody>
      </p:sp>
    </p:spTree>
    <p:extLst>
      <p:ext uri="{BB962C8B-B14F-4D97-AF65-F5344CB8AC3E}">
        <p14:creationId xmlns:p14="http://schemas.microsoft.com/office/powerpoint/2010/main" val="6266909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08658-E923-0A41-D1E4-3D4E40AE0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olo 23">
            <a:extLst>
              <a:ext uri="{FF2B5EF4-FFF2-40B4-BE49-F238E27FC236}">
                <a16:creationId xmlns:a16="http://schemas.microsoft.com/office/drawing/2014/main" id="{A88380DF-5002-B7FB-719D-6277FE508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GB" sz="4400" dirty="0">
                <a:solidFill>
                  <a:srgbClr val="494949"/>
                </a:solidFill>
              </a:rPr>
            </a:br>
            <a:endParaRPr lang="en-US" sz="4400" dirty="0"/>
          </a:p>
        </p:txBody>
      </p:sp>
      <p:sp>
        <p:nvSpPr>
          <p:cNvPr id="14" name="Titolo 23">
            <a:extLst>
              <a:ext uri="{FF2B5EF4-FFF2-40B4-BE49-F238E27FC236}">
                <a16:creationId xmlns:a16="http://schemas.microsoft.com/office/drawing/2014/main" id="{65B8DCB4-C78B-0A47-402D-E3D61E78FE3D}"/>
              </a:ext>
            </a:extLst>
          </p:cNvPr>
          <p:cNvSpPr txBox="1">
            <a:spLocks/>
          </p:cNvSpPr>
          <p:nvPr/>
        </p:nvSpPr>
        <p:spPr>
          <a:xfrm>
            <a:off x="1500815" y="244501"/>
            <a:ext cx="6140959" cy="5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n-US" dirty="0"/>
              <a:t>5 - IDS – ( side-sniff ) </a:t>
            </a:r>
          </a:p>
          <a:p>
            <a:endParaRPr lang="it-IT" dirty="0"/>
          </a:p>
        </p:txBody>
      </p:sp>
      <p:sp>
        <p:nvSpPr>
          <p:cNvPr id="11" name="Segnaposto contenuto 12">
            <a:extLst>
              <a:ext uri="{FF2B5EF4-FFF2-40B4-BE49-F238E27FC236}">
                <a16:creationId xmlns:a16="http://schemas.microsoft.com/office/drawing/2014/main" id="{993B2559-FFB1-FD83-40CF-34AD89C2872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2133" y="4827883"/>
            <a:ext cx="7954963" cy="250825"/>
          </a:xfrm>
        </p:spPr>
        <p:txBody>
          <a:bodyPr/>
          <a:lstStyle/>
          <a:p>
            <a:r>
              <a:rPr lang="it-IT" dirty="0"/>
              <a:t>Umberto Della Monica – S.I.D.E.</a:t>
            </a:r>
          </a:p>
        </p:txBody>
      </p:sp>
      <p:sp>
        <p:nvSpPr>
          <p:cNvPr id="13" name="Sottotitolo 12">
            <a:extLst>
              <a:ext uri="{FF2B5EF4-FFF2-40B4-BE49-F238E27FC236}">
                <a16:creationId xmlns:a16="http://schemas.microsoft.com/office/drawing/2014/main" id="{27098E62-80CB-DC5A-D644-BAC752C91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225" y="949575"/>
            <a:ext cx="2585139" cy="375000"/>
          </a:xfrm>
        </p:spPr>
        <p:txBody>
          <a:bodyPr/>
          <a:lstStyle/>
          <a:p>
            <a:r>
              <a:rPr lang="it-IT" dirty="0"/>
              <a:t>ML- </a:t>
            </a:r>
            <a:r>
              <a:rPr lang="it-IT" dirty="0" err="1"/>
              <a:t>IsolationForest</a:t>
            </a:r>
            <a:endParaRPr lang="it-IT" dirty="0"/>
          </a:p>
        </p:txBody>
      </p:sp>
      <p:sp>
        <p:nvSpPr>
          <p:cNvPr id="19" name="Sottotitolo 18">
            <a:extLst>
              <a:ext uri="{FF2B5EF4-FFF2-40B4-BE49-F238E27FC236}">
                <a16:creationId xmlns:a16="http://schemas.microsoft.com/office/drawing/2014/main" id="{B36880C4-86D9-26E1-6ECD-CF74C7BA7283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243347" y="1235999"/>
            <a:ext cx="3800100" cy="3238622"/>
          </a:xfrm>
        </p:spPr>
        <p:txBody>
          <a:bodyPr/>
          <a:lstStyle/>
          <a:p>
            <a:r>
              <a:rPr lang="it-IT" dirty="0"/>
              <a:t>Una volta che è stato attivato lo Z-Score, implicitamente su un </a:t>
            </a:r>
            <a:r>
              <a:rPr lang="it-IT" dirty="0" err="1"/>
              <a:t>thread</a:t>
            </a:r>
            <a:r>
              <a:rPr lang="it-IT" dirty="0"/>
              <a:t> totalmente differente viene effettuata la valutazione di quelle proprietà per quel singolo protocollo.</a:t>
            </a:r>
          </a:p>
          <a:p>
            <a:endParaRPr lang="it-IT" dirty="0"/>
          </a:p>
          <a:p>
            <a:r>
              <a:rPr lang="it-IT" dirty="0"/>
              <a:t>In particolare ogni protocollo avrà un modello : </a:t>
            </a:r>
          </a:p>
          <a:p>
            <a:endParaRPr lang="it-IT" dirty="0"/>
          </a:p>
          <a:p>
            <a:pPr marL="171450" indent="-171450">
              <a:buFontTx/>
              <a:buChar char="-"/>
            </a:pPr>
            <a:r>
              <a:rPr lang="it-IT" dirty="0"/>
              <a:t>Addestrato Offline su dataset filtrati</a:t>
            </a:r>
            <a:br>
              <a:rPr lang="it-IT" dirty="0"/>
            </a:br>
            <a:endParaRPr lang="it-IT" dirty="0"/>
          </a:p>
          <a:p>
            <a:pPr marL="171450" indent="-171450">
              <a:buFontTx/>
              <a:buChar char="-"/>
            </a:pPr>
            <a:r>
              <a:rPr lang="it-IT" dirty="0"/>
              <a:t>Caricato all’inizio del servizio di IDS </a:t>
            </a:r>
            <a:br>
              <a:rPr lang="it-IT" dirty="0"/>
            </a:br>
            <a:endParaRPr lang="it-IT" dirty="0"/>
          </a:p>
          <a:p>
            <a:pPr marL="171450" indent="-171450">
              <a:buFontTx/>
              <a:buChar char="-"/>
            </a:pPr>
            <a:r>
              <a:rPr lang="it-IT" dirty="0"/>
              <a:t>Serve per identificare l’anomalia ( </a:t>
            </a:r>
            <a:r>
              <a:rPr lang="it-IT" dirty="0" err="1"/>
              <a:t>behaviour</a:t>
            </a:r>
            <a:r>
              <a:rPr lang="it-IT" dirty="0"/>
              <a:t> ) che un determinato device ha all’interno </a:t>
            </a:r>
            <a:r>
              <a:rPr lang="it-IT" dirty="0" err="1"/>
              <a:t>dell’environment</a:t>
            </a:r>
            <a:r>
              <a:rPr lang="it-IT" dirty="0"/>
              <a:t> </a:t>
            </a:r>
            <a:br>
              <a:rPr lang="it-IT" dirty="0"/>
            </a:br>
            <a:endParaRPr lang="it-IT" dirty="0"/>
          </a:p>
          <a:p>
            <a:pPr marL="171450" indent="-171450">
              <a:buFontTx/>
              <a:buChar char="-"/>
            </a:pPr>
            <a:r>
              <a:rPr lang="it-IT" dirty="0"/>
              <a:t>Una volta che questa metrica individua un’anomalia, questa viene pubblicata mediante </a:t>
            </a:r>
            <a:r>
              <a:rPr lang="it-IT" dirty="0" err="1"/>
              <a:t>RabbitMQ</a:t>
            </a:r>
            <a:r>
              <a:rPr lang="it-IT" dirty="0"/>
              <a:t> al modulo (</a:t>
            </a:r>
            <a:r>
              <a:rPr lang="it-IT" b="1" dirty="0"/>
              <a:t>side-device-</a:t>
            </a:r>
            <a:r>
              <a:rPr lang="it-IT" b="1" dirty="0" err="1"/>
              <a:t>discovery</a:t>
            </a:r>
            <a:r>
              <a:rPr lang="it-IT" dirty="0"/>
              <a:t>) </a:t>
            </a:r>
          </a:p>
          <a:p>
            <a:pPr marL="171450" indent="-171450">
              <a:buFontTx/>
              <a:buChar char="-"/>
            </a:pPr>
            <a:endParaRPr lang="it-IT" dirty="0"/>
          </a:p>
          <a:p>
            <a:pPr marL="171450" indent="-171450">
              <a:buFontTx/>
              <a:buChar char="-"/>
            </a:pPr>
            <a:endParaRPr lang="it-IT" dirty="0"/>
          </a:p>
          <a:p>
            <a:pPr marL="171450" indent="-171450">
              <a:buFontTx/>
              <a:buChar char="-"/>
            </a:pPr>
            <a:endParaRPr lang="it-IT" dirty="0"/>
          </a:p>
          <a:p>
            <a:pPr marL="171450" indent="-171450">
              <a:buFontTx/>
              <a:buChar char="-"/>
            </a:pPr>
            <a:endParaRPr lang="it-IT" dirty="0"/>
          </a:p>
          <a:p>
            <a:endParaRPr lang="it-IT" dirty="0"/>
          </a:p>
        </p:txBody>
      </p:sp>
      <p:pic>
        <p:nvPicPr>
          <p:cNvPr id="2050" name="Picture 2" descr="Isolating an anomalous point versus a normal point. Image by the author.">
            <a:extLst>
              <a:ext uri="{FF2B5EF4-FFF2-40B4-BE49-F238E27FC236}">
                <a16:creationId xmlns:a16="http://schemas.microsoft.com/office/drawing/2014/main" id="{DD08CBB6-8A71-60B4-8701-8BE36B945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3914" y="915170"/>
            <a:ext cx="4106166" cy="1836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BD98CF6F-3813-8053-671C-D9AA4CA3FD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6700" y="3002859"/>
            <a:ext cx="4874520" cy="1404571"/>
          </a:xfrm>
          <a:prstGeom prst="rect">
            <a:avLst/>
          </a:prstGeom>
        </p:spPr>
      </p:pic>
      <p:sp>
        <p:nvSpPr>
          <p:cNvPr id="6" name="Sottotitolo 6">
            <a:extLst>
              <a:ext uri="{FF2B5EF4-FFF2-40B4-BE49-F238E27FC236}">
                <a16:creationId xmlns:a16="http://schemas.microsoft.com/office/drawing/2014/main" id="{324E8094-634C-4E6C-5AD1-DFA3C4236451}"/>
              </a:ext>
            </a:extLst>
          </p:cNvPr>
          <p:cNvSpPr txBox="1">
            <a:spLocks/>
          </p:cNvSpPr>
          <p:nvPr/>
        </p:nvSpPr>
        <p:spPr>
          <a:xfrm>
            <a:off x="4220420" y="2589979"/>
            <a:ext cx="2293540" cy="343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it-IT" i="1" dirty="0"/>
              <a:t>Esempio : </a:t>
            </a:r>
            <a:r>
              <a:rPr lang="it-IT" i="1" dirty="0" err="1"/>
              <a:t>IsolationForest</a:t>
            </a:r>
            <a:r>
              <a:rPr lang="it-IT" i="1" dirty="0"/>
              <a:t> </a:t>
            </a:r>
            <a:r>
              <a:rPr lang="it-IT" i="1" dirty="0" err="1"/>
              <a:t>Example</a:t>
            </a:r>
            <a:endParaRPr lang="it-IT" i="1" dirty="0"/>
          </a:p>
        </p:txBody>
      </p:sp>
      <p:sp>
        <p:nvSpPr>
          <p:cNvPr id="7" name="Sottotitolo 6">
            <a:extLst>
              <a:ext uri="{FF2B5EF4-FFF2-40B4-BE49-F238E27FC236}">
                <a16:creationId xmlns:a16="http://schemas.microsoft.com/office/drawing/2014/main" id="{92C3B37D-233F-5B61-35AF-0BBCFEB104ED}"/>
              </a:ext>
            </a:extLst>
          </p:cNvPr>
          <p:cNvSpPr txBox="1">
            <a:spLocks/>
          </p:cNvSpPr>
          <p:nvPr/>
        </p:nvSpPr>
        <p:spPr>
          <a:xfrm>
            <a:off x="4076700" y="4407430"/>
            <a:ext cx="3914503" cy="350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it-IT" i="1" dirty="0"/>
              <a:t>Esempio : </a:t>
            </a:r>
            <a:r>
              <a:rPr lang="it-IT" i="1" dirty="0" err="1"/>
              <a:t>IsolationForest</a:t>
            </a:r>
            <a:r>
              <a:rPr lang="it-IT" i="1" dirty="0"/>
              <a:t> </a:t>
            </a:r>
            <a:r>
              <a:rPr lang="it-IT" i="1" dirty="0" err="1"/>
              <a:t>Modbus</a:t>
            </a:r>
            <a:r>
              <a:rPr lang="it-IT" i="1" dirty="0"/>
              <a:t>  Evaluation on S.I.D.E. system</a:t>
            </a:r>
          </a:p>
        </p:txBody>
      </p:sp>
    </p:spTree>
    <p:extLst>
      <p:ext uri="{BB962C8B-B14F-4D97-AF65-F5344CB8AC3E}">
        <p14:creationId xmlns:p14="http://schemas.microsoft.com/office/powerpoint/2010/main" val="25594646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E7A11-4751-1A6F-4A5D-A90556BFF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olo 23">
            <a:extLst>
              <a:ext uri="{FF2B5EF4-FFF2-40B4-BE49-F238E27FC236}">
                <a16:creationId xmlns:a16="http://schemas.microsoft.com/office/drawing/2014/main" id="{1FE530BA-F912-B042-9DCD-414898DD4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GB" sz="4400" dirty="0">
                <a:solidFill>
                  <a:srgbClr val="494949"/>
                </a:solidFill>
              </a:rPr>
            </a:br>
            <a:endParaRPr lang="en-US" sz="4400" dirty="0"/>
          </a:p>
        </p:txBody>
      </p:sp>
      <p:sp>
        <p:nvSpPr>
          <p:cNvPr id="2" name="Sottotitolo 1">
            <a:extLst>
              <a:ext uri="{FF2B5EF4-FFF2-40B4-BE49-F238E27FC236}">
                <a16:creationId xmlns:a16="http://schemas.microsoft.com/office/drawing/2014/main" id="{6A28AE28-2C32-A65E-286F-3881B8F69B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9811" y="849671"/>
            <a:ext cx="2429365" cy="375000"/>
          </a:xfrm>
        </p:spPr>
        <p:txBody>
          <a:bodyPr/>
          <a:lstStyle/>
          <a:p>
            <a:r>
              <a:rPr lang="it-IT" i="1" dirty="0"/>
              <a:t>Publishing Events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94856AD-A707-E0AA-B982-D342168EF281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209811" y="1173761"/>
            <a:ext cx="4247889" cy="3372682"/>
          </a:xfrm>
        </p:spPr>
        <p:txBody>
          <a:bodyPr/>
          <a:lstStyle/>
          <a:p>
            <a:r>
              <a:rPr lang="it-IT" dirty="0"/>
              <a:t>Una volta che i moduli dell’IDS hanno svolto le loro valutazioni, mediante l’utilizzo di </a:t>
            </a:r>
            <a:r>
              <a:rPr lang="it-IT" dirty="0" err="1"/>
              <a:t>RabbitMQ</a:t>
            </a:r>
            <a:r>
              <a:rPr lang="it-IT" dirty="0"/>
              <a:t> pubblicheranno eventi al prossimo modulo </a:t>
            </a:r>
            <a:r>
              <a:rPr lang="it-IT" b="1" i="1" dirty="0"/>
              <a:t>(side-device-</a:t>
            </a:r>
            <a:r>
              <a:rPr lang="it-IT" b="1" i="1" dirty="0" err="1"/>
              <a:t>discovery</a:t>
            </a:r>
            <a:r>
              <a:rPr lang="it-IT" b="1" i="1" dirty="0"/>
              <a:t>)</a:t>
            </a:r>
            <a:r>
              <a:rPr lang="it-IT" dirty="0"/>
              <a:t> che hanno un livello di </a:t>
            </a:r>
            <a:r>
              <a:rPr lang="it-IT" dirty="0" err="1"/>
              <a:t>severity</a:t>
            </a:r>
            <a:r>
              <a:rPr lang="it-IT" dirty="0"/>
              <a:t> differente a seconda se viene utilizzato lo Z-Score o il modello ML : </a:t>
            </a:r>
          </a:p>
          <a:p>
            <a:endParaRPr lang="it-IT" dirty="0"/>
          </a:p>
          <a:p>
            <a:pPr marL="171450" indent="-171450">
              <a:buFontTx/>
              <a:buChar char="-"/>
            </a:pPr>
            <a:r>
              <a:rPr lang="it-IT" b="1" i="1" dirty="0"/>
              <a:t>NORMAL_ACTIVITY </a:t>
            </a:r>
            <a:r>
              <a:rPr lang="it-IT" dirty="0"/>
              <a:t>: Un device PLC-HMI-RTU ha avuto un’interazione con un server/slave per poter aggiornare i dati presenti all’interno di specifici registri.</a:t>
            </a:r>
          </a:p>
          <a:p>
            <a:pPr marL="171450" indent="-171450">
              <a:buFontTx/>
              <a:buChar char="-"/>
            </a:pPr>
            <a:endParaRPr lang="it-IT" dirty="0"/>
          </a:p>
          <a:p>
            <a:pPr marL="171450" indent="-171450">
              <a:buFontTx/>
              <a:buChar char="-"/>
            </a:pPr>
            <a:r>
              <a:rPr lang="it-IT" b="1" i="1" dirty="0"/>
              <a:t>EARLY_WARNING_ZSCORE </a:t>
            </a:r>
            <a:r>
              <a:rPr lang="it-IT" dirty="0"/>
              <a:t>: Lo Z-Score service viene attivato dietro un’attività inconsueta o anomala </a:t>
            </a:r>
          </a:p>
          <a:p>
            <a:pPr marL="171450" indent="-171450">
              <a:buFontTx/>
              <a:buChar char="-"/>
            </a:pPr>
            <a:endParaRPr lang="it-IT" dirty="0"/>
          </a:p>
          <a:p>
            <a:pPr marL="171450" indent="-171450">
              <a:buFontTx/>
              <a:buChar char="-"/>
            </a:pPr>
            <a:r>
              <a:rPr lang="it-IT" dirty="0"/>
              <a:t>Se l’ </a:t>
            </a:r>
            <a:r>
              <a:rPr lang="it-IT" b="1" i="1" dirty="0"/>
              <a:t>EARLY_WARNING_ZSCORE </a:t>
            </a:r>
            <a:r>
              <a:rPr lang="it-IT" dirty="0"/>
              <a:t>viene attivato allora in quel caso, si procede con la valutazione del modello di machine learning specializzato in quel determinato protocollo per verificare se vi è una vera e propria ANOMALIA  con la dicitura (</a:t>
            </a:r>
            <a:r>
              <a:rPr lang="it-IT" b="1" i="1" dirty="0"/>
              <a:t>CONFIRMED_ANOMALY_ML</a:t>
            </a:r>
            <a:r>
              <a:rPr lang="it-IT" dirty="0"/>
              <a:t>)</a:t>
            </a:r>
          </a:p>
          <a:p>
            <a:pPr marL="171450" indent="-171450">
              <a:buFontTx/>
              <a:buChar char="-"/>
            </a:pPr>
            <a:endParaRPr lang="it-IT" dirty="0"/>
          </a:p>
        </p:txBody>
      </p:sp>
      <p:sp>
        <p:nvSpPr>
          <p:cNvPr id="14" name="Titolo 23">
            <a:extLst>
              <a:ext uri="{FF2B5EF4-FFF2-40B4-BE49-F238E27FC236}">
                <a16:creationId xmlns:a16="http://schemas.microsoft.com/office/drawing/2014/main" id="{1A246A01-433E-6665-B36E-4A19C13A1B4D}"/>
              </a:ext>
            </a:extLst>
          </p:cNvPr>
          <p:cNvSpPr txBox="1">
            <a:spLocks/>
          </p:cNvSpPr>
          <p:nvPr/>
        </p:nvSpPr>
        <p:spPr>
          <a:xfrm>
            <a:off x="1819765" y="233071"/>
            <a:ext cx="6140959" cy="5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it-IT" dirty="0"/>
              <a:t>5 - IDS– (side-sniff) 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4BAD7D22-95C7-2253-901D-54F24D714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700" y="1459901"/>
            <a:ext cx="4464399" cy="2555097"/>
          </a:xfrm>
          <a:prstGeom prst="rect">
            <a:avLst/>
          </a:prstGeom>
        </p:spPr>
      </p:pic>
      <p:sp>
        <p:nvSpPr>
          <p:cNvPr id="15" name="Segnaposto contenuto 12">
            <a:extLst>
              <a:ext uri="{FF2B5EF4-FFF2-40B4-BE49-F238E27FC236}">
                <a16:creationId xmlns:a16="http://schemas.microsoft.com/office/drawing/2014/main" id="{8A0CE3E8-9E9D-C42B-053F-5FF2EB06A6B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004" y="4819624"/>
            <a:ext cx="7954963" cy="250825"/>
          </a:xfrm>
        </p:spPr>
        <p:txBody>
          <a:bodyPr/>
          <a:lstStyle/>
          <a:p>
            <a:r>
              <a:rPr lang="it-IT" dirty="0"/>
              <a:t>Umberto Della Monica – S.I.D.E.</a:t>
            </a:r>
          </a:p>
        </p:txBody>
      </p:sp>
      <p:sp>
        <p:nvSpPr>
          <p:cNvPr id="16" name="Sottotitolo 6">
            <a:extLst>
              <a:ext uri="{FF2B5EF4-FFF2-40B4-BE49-F238E27FC236}">
                <a16:creationId xmlns:a16="http://schemas.microsoft.com/office/drawing/2014/main" id="{E2CAB163-9CCE-F027-65AC-59A895A53CFA}"/>
              </a:ext>
            </a:extLst>
          </p:cNvPr>
          <p:cNvSpPr txBox="1">
            <a:spLocks/>
          </p:cNvSpPr>
          <p:nvPr/>
        </p:nvSpPr>
        <p:spPr>
          <a:xfrm>
            <a:off x="5561226" y="3983236"/>
            <a:ext cx="2668374" cy="56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it-IT" i="1" dirty="0"/>
              <a:t>Esempio : Interazione con Database per l’aggiornamento di Device e </a:t>
            </a:r>
            <a:r>
              <a:rPr lang="it-IT" i="1" dirty="0" err="1"/>
              <a:t>Anomaly</a:t>
            </a:r>
            <a:r>
              <a:rPr lang="it-IT" i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17530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81146-DEF5-89BE-9988-50A28C9D4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olo 23">
            <a:extLst>
              <a:ext uri="{FF2B5EF4-FFF2-40B4-BE49-F238E27FC236}">
                <a16:creationId xmlns:a16="http://schemas.microsoft.com/office/drawing/2014/main" id="{B0EF8E3A-51C5-D5A7-C47B-5B125E077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6885" y="343175"/>
            <a:ext cx="6006300" cy="595800"/>
          </a:xfrm>
        </p:spPr>
        <p:txBody>
          <a:bodyPr/>
          <a:lstStyle/>
          <a:p>
            <a:br>
              <a:rPr lang="en-GB" sz="4400" dirty="0">
                <a:solidFill>
                  <a:srgbClr val="494949"/>
                </a:solidFill>
              </a:rPr>
            </a:br>
            <a:endParaRPr lang="en-US" sz="4400" dirty="0"/>
          </a:p>
        </p:txBody>
      </p:sp>
      <p:sp>
        <p:nvSpPr>
          <p:cNvPr id="14" name="Titolo 23">
            <a:extLst>
              <a:ext uri="{FF2B5EF4-FFF2-40B4-BE49-F238E27FC236}">
                <a16:creationId xmlns:a16="http://schemas.microsoft.com/office/drawing/2014/main" id="{FCFEA43F-662A-83BC-4080-5E031AD5966C}"/>
              </a:ext>
            </a:extLst>
          </p:cNvPr>
          <p:cNvSpPr txBox="1">
            <a:spLocks/>
          </p:cNvSpPr>
          <p:nvPr/>
        </p:nvSpPr>
        <p:spPr>
          <a:xfrm>
            <a:off x="1830976" y="196604"/>
            <a:ext cx="6140959" cy="5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n-US" dirty="0"/>
              <a:t>5- Discovery - (side-device-discovery)</a:t>
            </a:r>
          </a:p>
          <a:p>
            <a:endParaRPr lang="it-IT" dirty="0"/>
          </a:p>
        </p:txBody>
      </p:sp>
      <p:pic>
        <p:nvPicPr>
          <p:cNvPr id="3074" name="Picture 2" descr="Opzioni di messaggistica asincrona - Azure Architecture Center | Microsoft  Learn">
            <a:extLst>
              <a:ext uri="{FF2B5EF4-FFF2-40B4-BE49-F238E27FC236}">
                <a16:creationId xmlns:a16="http://schemas.microsoft.com/office/drawing/2014/main" id="{E1A94253-F990-3C09-CDFC-0CAE33C1CC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98" t="6924" r="19285" b="6517"/>
          <a:stretch>
            <a:fillRect/>
          </a:stretch>
        </p:blipFill>
        <p:spPr bwMode="auto">
          <a:xfrm>
            <a:off x="4403930" y="1042960"/>
            <a:ext cx="2855705" cy="1859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ottotitolo 18">
            <a:extLst>
              <a:ext uri="{FF2B5EF4-FFF2-40B4-BE49-F238E27FC236}">
                <a16:creationId xmlns:a16="http://schemas.microsoft.com/office/drawing/2014/main" id="{2DAD21BC-C2EF-B5A7-5EC7-C3D5A2A8ADED}"/>
              </a:ext>
            </a:extLst>
          </p:cNvPr>
          <p:cNvSpPr txBox="1">
            <a:spLocks/>
          </p:cNvSpPr>
          <p:nvPr/>
        </p:nvSpPr>
        <p:spPr>
          <a:xfrm>
            <a:off x="157853" y="1342679"/>
            <a:ext cx="4048388" cy="3238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it-IT" dirty="0"/>
              <a:t>Tale modulo risulta essere il componente che ha la seguente responsabilità : </a:t>
            </a:r>
          </a:p>
          <a:p>
            <a:endParaRPr lang="it-IT" dirty="0"/>
          </a:p>
          <a:p>
            <a:pPr marL="171450" indent="-171450">
              <a:buFontTx/>
              <a:buChar char="-"/>
            </a:pPr>
            <a:r>
              <a:rPr lang="it-IT" dirty="0"/>
              <a:t>Riceve messaggi di eventi da ( </a:t>
            </a:r>
            <a:r>
              <a:rPr lang="it-IT" b="1" dirty="0"/>
              <a:t>side-sniff</a:t>
            </a:r>
            <a:r>
              <a:rPr lang="it-IT" dirty="0"/>
              <a:t> ) </a:t>
            </a:r>
          </a:p>
          <a:p>
            <a:pPr marL="171450" indent="-171450">
              <a:buFontTx/>
              <a:buChar char="-"/>
            </a:pPr>
            <a:endParaRPr lang="it-IT" dirty="0"/>
          </a:p>
          <a:p>
            <a:pPr marL="171450" indent="-171450">
              <a:buFontTx/>
              <a:buChar char="-"/>
            </a:pPr>
            <a:r>
              <a:rPr lang="it-IT" dirty="0"/>
              <a:t>Effettua parsing degli eventi per poter capire il livello di </a:t>
            </a:r>
            <a:r>
              <a:rPr lang="it-IT" dirty="0" err="1"/>
              <a:t>severity</a:t>
            </a:r>
            <a:r>
              <a:rPr lang="it-IT" dirty="0"/>
              <a:t> che è stato pubblicato </a:t>
            </a:r>
          </a:p>
          <a:p>
            <a:pPr marL="171450" indent="-171450">
              <a:buFontTx/>
              <a:buChar char="-"/>
            </a:pPr>
            <a:endParaRPr lang="it-IT" dirty="0"/>
          </a:p>
          <a:p>
            <a:pPr marL="171450" indent="-171450">
              <a:buFontTx/>
              <a:buChar char="-"/>
            </a:pPr>
            <a:r>
              <a:rPr lang="it-IT" dirty="0"/>
              <a:t>Una volta individuato il livello di </a:t>
            </a:r>
            <a:r>
              <a:rPr lang="it-IT" b="1" dirty="0" err="1"/>
              <a:t>severity</a:t>
            </a:r>
            <a:r>
              <a:rPr lang="it-IT" dirty="0"/>
              <a:t>, effettua un aggiornamento al database Neo4J per mostrare la topologia dei dispositiva in quell’ambiente</a:t>
            </a:r>
          </a:p>
          <a:p>
            <a:pPr marL="171450" indent="-171450">
              <a:buFontTx/>
              <a:buChar char="-"/>
            </a:pPr>
            <a:endParaRPr lang="it-IT" dirty="0"/>
          </a:p>
          <a:p>
            <a:pPr marL="171450" indent="-171450">
              <a:buFontTx/>
              <a:buChar char="-"/>
            </a:pPr>
            <a:r>
              <a:rPr lang="it-IT" dirty="0"/>
              <a:t>Infine, pubblica in maniera separata un messaggio al modulo di ( </a:t>
            </a:r>
            <a:r>
              <a:rPr lang="it-IT" b="1" dirty="0"/>
              <a:t>side-api-</a:t>
            </a:r>
            <a:r>
              <a:rPr lang="it-IT" b="1" dirty="0" err="1"/>
              <a:t>backend</a:t>
            </a:r>
            <a:r>
              <a:rPr lang="it-IT" dirty="0"/>
              <a:t> ) , l’ultimo modulo che si interfaccia indipendentemente con il front-end </a:t>
            </a:r>
          </a:p>
          <a:p>
            <a:pPr marL="171450" indent="-171450">
              <a:buFontTx/>
              <a:buChar char="-"/>
            </a:pPr>
            <a:endParaRPr lang="it-IT" dirty="0"/>
          </a:p>
          <a:p>
            <a:pPr marL="171450" indent="-171450">
              <a:buFontTx/>
              <a:buChar char="-"/>
            </a:pPr>
            <a:endParaRPr lang="it-IT" dirty="0"/>
          </a:p>
          <a:p>
            <a:pPr marL="171450" indent="-171450">
              <a:buFontTx/>
              <a:buChar char="-"/>
            </a:pPr>
            <a:endParaRPr lang="it-IT" dirty="0"/>
          </a:p>
          <a:p>
            <a:endParaRPr lang="it-IT" dirty="0"/>
          </a:p>
        </p:txBody>
      </p:sp>
      <p:sp>
        <p:nvSpPr>
          <p:cNvPr id="3" name="Sottotitolo 12">
            <a:extLst>
              <a:ext uri="{FF2B5EF4-FFF2-40B4-BE49-F238E27FC236}">
                <a16:creationId xmlns:a16="http://schemas.microsoft.com/office/drawing/2014/main" id="{5A38EF0F-A894-981A-E1E6-BFDBC4E348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027" y="1008608"/>
            <a:ext cx="2585139" cy="375000"/>
          </a:xfrm>
        </p:spPr>
        <p:txBody>
          <a:bodyPr/>
          <a:lstStyle/>
          <a:p>
            <a:r>
              <a:rPr lang="it-IT" dirty="0"/>
              <a:t>Discovery Device 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30B40791-786D-9D59-7325-A0D22AA6BB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799" y="2902282"/>
            <a:ext cx="4419600" cy="1098218"/>
          </a:xfrm>
          <a:prstGeom prst="rect">
            <a:avLst/>
          </a:prstGeom>
        </p:spPr>
      </p:pic>
      <p:sp>
        <p:nvSpPr>
          <p:cNvPr id="8" name="Sottotitolo 6">
            <a:extLst>
              <a:ext uri="{FF2B5EF4-FFF2-40B4-BE49-F238E27FC236}">
                <a16:creationId xmlns:a16="http://schemas.microsoft.com/office/drawing/2014/main" id="{17DC4AC0-E39B-61D9-698B-0C16FD1BBF71}"/>
              </a:ext>
            </a:extLst>
          </p:cNvPr>
          <p:cNvSpPr txBox="1">
            <a:spLocks/>
          </p:cNvSpPr>
          <p:nvPr/>
        </p:nvSpPr>
        <p:spPr>
          <a:xfrm>
            <a:off x="4403930" y="4095894"/>
            <a:ext cx="2783954" cy="51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it-IT" i="1" dirty="0"/>
              <a:t>Esempio : side-device-</a:t>
            </a:r>
            <a:r>
              <a:rPr lang="it-IT" i="1" dirty="0" err="1"/>
              <a:t>discovery</a:t>
            </a:r>
            <a:r>
              <a:rPr lang="it-IT" i="1" dirty="0"/>
              <a:t> working on S.I.D.E.</a:t>
            </a:r>
          </a:p>
        </p:txBody>
      </p:sp>
      <p:sp>
        <p:nvSpPr>
          <p:cNvPr id="9" name="Segnaposto contenuto 12">
            <a:extLst>
              <a:ext uri="{FF2B5EF4-FFF2-40B4-BE49-F238E27FC236}">
                <a16:creationId xmlns:a16="http://schemas.microsoft.com/office/drawing/2014/main" id="{F1E38BD8-786F-07EF-E18D-D71BD26349D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004" y="4819624"/>
            <a:ext cx="7954963" cy="250825"/>
          </a:xfrm>
        </p:spPr>
        <p:txBody>
          <a:bodyPr/>
          <a:lstStyle/>
          <a:p>
            <a:r>
              <a:rPr lang="it-IT" dirty="0"/>
              <a:t>Umberto Della Monica – S.I.D.E.</a:t>
            </a:r>
          </a:p>
        </p:txBody>
      </p:sp>
    </p:spTree>
    <p:extLst>
      <p:ext uri="{BB962C8B-B14F-4D97-AF65-F5344CB8AC3E}">
        <p14:creationId xmlns:p14="http://schemas.microsoft.com/office/powerpoint/2010/main" val="2455362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8E588-5C0B-FC19-D6DD-0B9F15B10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olo 23">
            <a:extLst>
              <a:ext uri="{FF2B5EF4-FFF2-40B4-BE49-F238E27FC236}">
                <a16:creationId xmlns:a16="http://schemas.microsoft.com/office/drawing/2014/main" id="{724D890B-D51F-2251-8215-1EAAB8113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0814" y="310816"/>
            <a:ext cx="6211715" cy="595800"/>
          </a:xfrm>
        </p:spPr>
        <p:txBody>
          <a:bodyPr/>
          <a:lstStyle/>
          <a:p>
            <a:br>
              <a:rPr lang="en-GB" sz="4400" dirty="0">
                <a:solidFill>
                  <a:srgbClr val="494949"/>
                </a:solidFill>
              </a:rPr>
            </a:br>
            <a:endParaRPr lang="en-US" sz="4400" dirty="0"/>
          </a:p>
        </p:txBody>
      </p:sp>
      <p:sp>
        <p:nvSpPr>
          <p:cNvPr id="14" name="Titolo 23">
            <a:extLst>
              <a:ext uri="{FF2B5EF4-FFF2-40B4-BE49-F238E27FC236}">
                <a16:creationId xmlns:a16="http://schemas.microsoft.com/office/drawing/2014/main" id="{C878972C-E61B-6B5C-295E-A16CF7DC74AB}"/>
              </a:ext>
            </a:extLst>
          </p:cNvPr>
          <p:cNvSpPr txBox="1">
            <a:spLocks/>
          </p:cNvSpPr>
          <p:nvPr/>
        </p:nvSpPr>
        <p:spPr>
          <a:xfrm>
            <a:off x="1859280" y="293972"/>
            <a:ext cx="5646745" cy="5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n-US" dirty="0"/>
              <a:t>5 - Back-End – ( side-</a:t>
            </a:r>
            <a:r>
              <a:rPr lang="en-US" dirty="0" err="1"/>
              <a:t>api</a:t>
            </a:r>
            <a:r>
              <a:rPr lang="en-US" dirty="0"/>
              <a:t>-backend ) </a:t>
            </a:r>
          </a:p>
          <a:p>
            <a:endParaRPr lang="it-IT" dirty="0"/>
          </a:p>
        </p:txBody>
      </p:sp>
      <p:sp>
        <p:nvSpPr>
          <p:cNvPr id="2" name="Sottotitolo 18">
            <a:extLst>
              <a:ext uri="{FF2B5EF4-FFF2-40B4-BE49-F238E27FC236}">
                <a16:creationId xmlns:a16="http://schemas.microsoft.com/office/drawing/2014/main" id="{E2CE0213-4FAB-4762-A0D3-6906EDEEB58E}"/>
              </a:ext>
            </a:extLst>
          </p:cNvPr>
          <p:cNvSpPr txBox="1">
            <a:spLocks/>
          </p:cNvSpPr>
          <p:nvPr/>
        </p:nvSpPr>
        <p:spPr>
          <a:xfrm>
            <a:off x="157852" y="1342679"/>
            <a:ext cx="4932308" cy="2970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it-IT" dirty="0"/>
              <a:t>Il modulo di back-end risulta essere un consumer dei messaggi del modulo precedente ( </a:t>
            </a:r>
            <a:r>
              <a:rPr lang="it-IT" b="1" dirty="0"/>
              <a:t>side-device-</a:t>
            </a:r>
            <a:r>
              <a:rPr lang="it-IT" b="1" dirty="0" err="1"/>
              <a:t>discovery</a:t>
            </a:r>
            <a:r>
              <a:rPr lang="it-IT" dirty="0"/>
              <a:t> )  e predispone le seguenti proprietà : </a:t>
            </a:r>
          </a:p>
          <a:p>
            <a:endParaRPr lang="it-IT" dirty="0"/>
          </a:p>
          <a:p>
            <a:r>
              <a:rPr lang="it-IT" dirty="0"/>
              <a:t>Possiede due </a:t>
            </a:r>
            <a:r>
              <a:rPr lang="it-IT" dirty="0" err="1"/>
              <a:t>WebSockets</a:t>
            </a:r>
            <a:r>
              <a:rPr lang="it-IT" dirty="0"/>
              <a:t> : </a:t>
            </a:r>
          </a:p>
          <a:p>
            <a:pPr marL="171450" indent="-171450">
              <a:buFontTx/>
              <a:buChar char="-"/>
            </a:pPr>
            <a:r>
              <a:rPr lang="it-IT" dirty="0"/>
              <a:t>La prima permette di visualizzare sul front-end lato </a:t>
            </a:r>
            <a:r>
              <a:rPr lang="it-IT" b="1" dirty="0"/>
              <a:t>/dashboard</a:t>
            </a:r>
            <a:r>
              <a:rPr lang="it-IT" dirty="0"/>
              <a:t> tutte le interazioni che avvengono tra i dispositivi su un grafo </a:t>
            </a:r>
            <a:br>
              <a:rPr lang="it-IT" dirty="0"/>
            </a:br>
            <a:endParaRPr lang="it-IT" dirty="0"/>
          </a:p>
          <a:p>
            <a:pPr marL="171450" indent="-171450">
              <a:buFontTx/>
              <a:buChar char="-"/>
            </a:pPr>
            <a:r>
              <a:rPr lang="it-IT" dirty="0"/>
              <a:t>La seconda invece serve per l’interpretazione degli eventi e visualizzazione lato </a:t>
            </a:r>
            <a:r>
              <a:rPr lang="it-IT" b="1" dirty="0"/>
              <a:t>/events</a:t>
            </a:r>
          </a:p>
          <a:p>
            <a:pPr marL="171450" indent="-171450">
              <a:buFontTx/>
              <a:buChar char="-"/>
            </a:pPr>
            <a:endParaRPr lang="it-IT" dirty="0"/>
          </a:p>
          <a:p>
            <a:r>
              <a:rPr lang="it-IT" dirty="0"/>
              <a:t>Il back-end si occupa esclusivamente di recuperare i dati dal database Neo4J per il front-end.</a:t>
            </a:r>
          </a:p>
          <a:p>
            <a:br>
              <a:rPr lang="it-IT" dirty="0"/>
            </a:br>
            <a:r>
              <a:rPr lang="it-IT" dirty="0"/>
              <a:t>L’interazione è completamente sicura: non introduce meccanismi di blocco né rischi di deadlock, e non ci sono problemi di sincronizzazione tra lettura e scrittura dei dati</a:t>
            </a:r>
          </a:p>
          <a:p>
            <a:endParaRPr lang="it-IT" dirty="0"/>
          </a:p>
        </p:txBody>
      </p:sp>
      <p:sp>
        <p:nvSpPr>
          <p:cNvPr id="3" name="Sottotitolo 12">
            <a:extLst>
              <a:ext uri="{FF2B5EF4-FFF2-40B4-BE49-F238E27FC236}">
                <a16:creationId xmlns:a16="http://schemas.microsoft.com/office/drawing/2014/main" id="{8591B7DC-1016-B122-45CF-26BE1E42FB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852" y="1038320"/>
            <a:ext cx="2585139" cy="375000"/>
          </a:xfrm>
        </p:spPr>
        <p:txBody>
          <a:bodyPr/>
          <a:lstStyle/>
          <a:p>
            <a:r>
              <a:rPr lang="it-IT" dirty="0"/>
              <a:t>Back-End</a:t>
            </a:r>
          </a:p>
        </p:txBody>
      </p:sp>
      <p:sp>
        <p:nvSpPr>
          <p:cNvPr id="6" name="Sottotitolo 6">
            <a:extLst>
              <a:ext uri="{FF2B5EF4-FFF2-40B4-BE49-F238E27FC236}">
                <a16:creationId xmlns:a16="http://schemas.microsoft.com/office/drawing/2014/main" id="{95199128-A15E-F9D0-F7CF-AC5C96A3D08E}"/>
              </a:ext>
            </a:extLst>
          </p:cNvPr>
          <p:cNvSpPr txBox="1">
            <a:spLocks/>
          </p:cNvSpPr>
          <p:nvPr/>
        </p:nvSpPr>
        <p:spPr>
          <a:xfrm>
            <a:off x="5595516" y="2783874"/>
            <a:ext cx="2668374" cy="56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it-IT" i="1" dirty="0"/>
              <a:t>Esempio : Dashboard – Neo4J 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C52CD194-7815-4A5C-0DD2-D092BF314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6456" y="1134182"/>
            <a:ext cx="2442451" cy="1712093"/>
          </a:xfrm>
          <a:prstGeom prst="rect">
            <a:avLst/>
          </a:prstGeom>
        </p:spPr>
      </p:pic>
      <p:pic>
        <p:nvPicPr>
          <p:cNvPr id="9" name="Immagine 8" descr="Immagine che contiene schermata, testo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5C31C034-DD9C-17C4-4469-39D0767CC1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3002" y="3100630"/>
            <a:ext cx="2570888" cy="1424212"/>
          </a:xfrm>
          <a:prstGeom prst="rect">
            <a:avLst/>
          </a:prstGeom>
        </p:spPr>
      </p:pic>
      <p:sp>
        <p:nvSpPr>
          <p:cNvPr id="10" name="Segnaposto contenuto 12">
            <a:extLst>
              <a:ext uri="{FF2B5EF4-FFF2-40B4-BE49-F238E27FC236}">
                <a16:creationId xmlns:a16="http://schemas.microsoft.com/office/drawing/2014/main" id="{5DCFA92E-9E02-A079-9380-4BAC5826691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004" y="4819624"/>
            <a:ext cx="7954963" cy="250825"/>
          </a:xfrm>
        </p:spPr>
        <p:txBody>
          <a:bodyPr/>
          <a:lstStyle/>
          <a:p>
            <a:r>
              <a:rPr lang="it-IT" dirty="0"/>
              <a:t>Umberto Della Monica – S.I.D.E.</a:t>
            </a:r>
          </a:p>
        </p:txBody>
      </p:sp>
    </p:spTree>
    <p:extLst>
      <p:ext uri="{BB962C8B-B14F-4D97-AF65-F5344CB8AC3E}">
        <p14:creationId xmlns:p14="http://schemas.microsoft.com/office/powerpoint/2010/main" val="1352225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5C780-B44F-5596-CFE1-231AE38EC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olo 23">
            <a:extLst>
              <a:ext uri="{FF2B5EF4-FFF2-40B4-BE49-F238E27FC236}">
                <a16:creationId xmlns:a16="http://schemas.microsoft.com/office/drawing/2014/main" id="{F4F2E361-AC03-8659-F22C-FE8142000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0814" y="310816"/>
            <a:ext cx="6211715" cy="595800"/>
          </a:xfrm>
        </p:spPr>
        <p:txBody>
          <a:bodyPr/>
          <a:lstStyle/>
          <a:p>
            <a:br>
              <a:rPr lang="en-GB" sz="4400" dirty="0">
                <a:solidFill>
                  <a:srgbClr val="494949"/>
                </a:solidFill>
              </a:rPr>
            </a:br>
            <a:endParaRPr lang="en-US" sz="4400" dirty="0"/>
          </a:p>
        </p:txBody>
      </p:sp>
      <p:sp>
        <p:nvSpPr>
          <p:cNvPr id="14" name="Titolo 23">
            <a:extLst>
              <a:ext uri="{FF2B5EF4-FFF2-40B4-BE49-F238E27FC236}">
                <a16:creationId xmlns:a16="http://schemas.microsoft.com/office/drawing/2014/main" id="{B71CCDFE-D7A5-21BA-F59B-6924FBFF2292}"/>
              </a:ext>
            </a:extLst>
          </p:cNvPr>
          <p:cNvSpPr txBox="1">
            <a:spLocks/>
          </p:cNvSpPr>
          <p:nvPr/>
        </p:nvSpPr>
        <p:spPr>
          <a:xfrm>
            <a:off x="1859280" y="293972"/>
            <a:ext cx="5646745" cy="5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n-US" dirty="0"/>
              <a:t>5 - Front-End – ( side-frontend ) </a:t>
            </a:r>
          </a:p>
          <a:p>
            <a:endParaRPr lang="it-IT" dirty="0"/>
          </a:p>
        </p:txBody>
      </p:sp>
      <p:sp>
        <p:nvSpPr>
          <p:cNvPr id="2" name="Sottotitolo 18">
            <a:extLst>
              <a:ext uri="{FF2B5EF4-FFF2-40B4-BE49-F238E27FC236}">
                <a16:creationId xmlns:a16="http://schemas.microsoft.com/office/drawing/2014/main" id="{A33A5542-7B20-955C-7C35-6B9DB3305A02}"/>
              </a:ext>
            </a:extLst>
          </p:cNvPr>
          <p:cNvSpPr txBox="1">
            <a:spLocks/>
          </p:cNvSpPr>
          <p:nvPr/>
        </p:nvSpPr>
        <p:spPr>
          <a:xfrm>
            <a:off x="497323" y="1478691"/>
            <a:ext cx="4109348" cy="1949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it-IT" dirty="0"/>
              <a:t>Il modulo di Front-End scritto in </a:t>
            </a:r>
            <a:r>
              <a:rPr lang="it-IT" b="1" dirty="0"/>
              <a:t>Next</a:t>
            </a:r>
            <a:r>
              <a:rPr lang="it-IT" dirty="0"/>
              <a:t>.js permette la visualizzazione real-time delle varie informazioni che sono memorizzate all’interno dell’ambiente SCADA viene monitorato dall’IDS </a:t>
            </a:r>
          </a:p>
          <a:p>
            <a:endParaRPr lang="it-IT" dirty="0"/>
          </a:p>
          <a:p>
            <a:r>
              <a:rPr lang="it-IT" dirty="0"/>
              <a:t>In particolar modo possiamo visualizzare 3 sezioni : </a:t>
            </a:r>
          </a:p>
          <a:p>
            <a:endParaRPr lang="it-IT" dirty="0"/>
          </a:p>
          <a:p>
            <a:pPr marL="171450" indent="-171450">
              <a:buFontTx/>
              <a:buChar char="-"/>
            </a:pPr>
            <a:r>
              <a:rPr lang="it-IT" b="1" dirty="0"/>
              <a:t>/dashboard </a:t>
            </a:r>
          </a:p>
          <a:p>
            <a:pPr marL="171450" indent="-171450">
              <a:buFontTx/>
              <a:buChar char="-"/>
            </a:pPr>
            <a:r>
              <a:rPr lang="it-IT" b="1" dirty="0"/>
              <a:t>/</a:t>
            </a:r>
            <a:r>
              <a:rPr lang="it-IT" b="1" dirty="0" err="1"/>
              <a:t>alarms</a:t>
            </a:r>
            <a:r>
              <a:rPr lang="it-IT" b="1" dirty="0"/>
              <a:t> </a:t>
            </a:r>
          </a:p>
          <a:p>
            <a:pPr marL="171450" indent="-171450">
              <a:buFontTx/>
              <a:buChar char="-"/>
            </a:pPr>
            <a:r>
              <a:rPr lang="it-IT" b="1" dirty="0"/>
              <a:t>/devices</a:t>
            </a:r>
          </a:p>
          <a:p>
            <a:endParaRPr lang="it-IT" b="1" dirty="0"/>
          </a:p>
          <a:p>
            <a:endParaRPr lang="it-IT" b="1" dirty="0"/>
          </a:p>
          <a:p>
            <a:endParaRPr lang="it-IT" b="1" dirty="0"/>
          </a:p>
        </p:txBody>
      </p:sp>
      <p:sp>
        <p:nvSpPr>
          <p:cNvPr id="3" name="Sottotitolo 12">
            <a:extLst>
              <a:ext uri="{FF2B5EF4-FFF2-40B4-BE49-F238E27FC236}">
                <a16:creationId xmlns:a16="http://schemas.microsoft.com/office/drawing/2014/main" id="{46D23264-B738-DC00-BC89-2774E74FF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7323" y="1148294"/>
            <a:ext cx="2585139" cy="375000"/>
          </a:xfrm>
        </p:spPr>
        <p:txBody>
          <a:bodyPr/>
          <a:lstStyle/>
          <a:p>
            <a:r>
              <a:rPr lang="it-IT" dirty="0"/>
              <a:t>Front-End</a:t>
            </a:r>
          </a:p>
        </p:txBody>
      </p:sp>
      <p:sp>
        <p:nvSpPr>
          <p:cNvPr id="10" name="Segnaposto contenuto 12">
            <a:extLst>
              <a:ext uri="{FF2B5EF4-FFF2-40B4-BE49-F238E27FC236}">
                <a16:creationId xmlns:a16="http://schemas.microsoft.com/office/drawing/2014/main" id="{02E9D544-41DF-C343-B87D-0F9B375AE2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004" y="4819624"/>
            <a:ext cx="7954963" cy="250825"/>
          </a:xfrm>
        </p:spPr>
        <p:txBody>
          <a:bodyPr/>
          <a:lstStyle/>
          <a:p>
            <a:r>
              <a:rPr lang="it-IT" dirty="0"/>
              <a:t>Umberto Della Monica – S.I.D.E.</a:t>
            </a:r>
          </a:p>
        </p:txBody>
      </p:sp>
      <p:pic>
        <p:nvPicPr>
          <p:cNvPr id="6146" name="Picture 2" descr="Front end - Free computer icons">
            <a:extLst>
              <a:ext uri="{FF2B5EF4-FFF2-40B4-BE49-F238E27FC236}">
                <a16:creationId xmlns:a16="http://schemas.microsoft.com/office/drawing/2014/main" id="{321500C4-726F-3423-2B23-61D6BE6039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5442" y="1422442"/>
            <a:ext cx="2471911" cy="2471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43563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5A58F-240D-C4BD-1A5C-804DF935D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olo 23">
            <a:extLst>
              <a:ext uri="{FF2B5EF4-FFF2-40B4-BE49-F238E27FC236}">
                <a16:creationId xmlns:a16="http://schemas.microsoft.com/office/drawing/2014/main" id="{42AD8147-A1B5-0269-AC3C-056E6D83A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0814" y="310816"/>
            <a:ext cx="6211715" cy="595800"/>
          </a:xfrm>
        </p:spPr>
        <p:txBody>
          <a:bodyPr/>
          <a:lstStyle/>
          <a:p>
            <a:br>
              <a:rPr lang="en-GB" sz="4400" dirty="0">
                <a:solidFill>
                  <a:srgbClr val="494949"/>
                </a:solidFill>
              </a:rPr>
            </a:br>
            <a:endParaRPr lang="en-US" sz="4400" dirty="0"/>
          </a:p>
        </p:txBody>
      </p:sp>
      <p:sp>
        <p:nvSpPr>
          <p:cNvPr id="14" name="Titolo 23">
            <a:extLst>
              <a:ext uri="{FF2B5EF4-FFF2-40B4-BE49-F238E27FC236}">
                <a16:creationId xmlns:a16="http://schemas.microsoft.com/office/drawing/2014/main" id="{C5300DDD-CBF2-DF95-0E3E-097CA4385E17}"/>
              </a:ext>
            </a:extLst>
          </p:cNvPr>
          <p:cNvSpPr txBox="1">
            <a:spLocks/>
          </p:cNvSpPr>
          <p:nvPr/>
        </p:nvSpPr>
        <p:spPr>
          <a:xfrm>
            <a:off x="1859280" y="293972"/>
            <a:ext cx="5646745" cy="5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n-US" dirty="0"/>
              <a:t>5 - Front-End – ( side-frontend ) </a:t>
            </a:r>
          </a:p>
          <a:p>
            <a:endParaRPr lang="it-IT" dirty="0"/>
          </a:p>
        </p:txBody>
      </p:sp>
      <p:sp>
        <p:nvSpPr>
          <p:cNvPr id="2" name="Sottotitolo 18">
            <a:extLst>
              <a:ext uri="{FF2B5EF4-FFF2-40B4-BE49-F238E27FC236}">
                <a16:creationId xmlns:a16="http://schemas.microsoft.com/office/drawing/2014/main" id="{3A300E1A-F9BD-04DB-2E1D-AE830276CDCA}"/>
              </a:ext>
            </a:extLst>
          </p:cNvPr>
          <p:cNvSpPr txBox="1">
            <a:spLocks/>
          </p:cNvSpPr>
          <p:nvPr/>
        </p:nvSpPr>
        <p:spPr>
          <a:xfrm>
            <a:off x="416339" y="1840185"/>
            <a:ext cx="3134396" cy="191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it-IT" dirty="0"/>
              <a:t>In particolar modo possiamo visualizzare tutti i nodi che interagiscono tra di loro in tempo reale.</a:t>
            </a:r>
          </a:p>
          <a:p>
            <a:endParaRPr lang="it-IT" dirty="0"/>
          </a:p>
          <a:p>
            <a:r>
              <a:rPr lang="it-IT" dirty="0"/>
              <a:t>L’interazione tra i device viene individuata dal Link che appare tra i due.</a:t>
            </a:r>
          </a:p>
          <a:p>
            <a:endParaRPr lang="it-IT" dirty="0"/>
          </a:p>
        </p:txBody>
      </p:sp>
      <p:sp>
        <p:nvSpPr>
          <p:cNvPr id="3" name="Sottotitolo 12">
            <a:extLst>
              <a:ext uri="{FF2B5EF4-FFF2-40B4-BE49-F238E27FC236}">
                <a16:creationId xmlns:a16="http://schemas.microsoft.com/office/drawing/2014/main" id="{28A2969A-7C45-137C-01C5-D5A6129B04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6339" y="1563859"/>
            <a:ext cx="2585139" cy="375000"/>
          </a:xfrm>
        </p:spPr>
        <p:txBody>
          <a:bodyPr/>
          <a:lstStyle/>
          <a:p>
            <a:r>
              <a:rPr lang="it-IT" dirty="0"/>
              <a:t>Front-End - /dashboard</a:t>
            </a:r>
          </a:p>
        </p:txBody>
      </p:sp>
      <p:sp>
        <p:nvSpPr>
          <p:cNvPr id="10" name="Segnaposto contenuto 12">
            <a:extLst>
              <a:ext uri="{FF2B5EF4-FFF2-40B4-BE49-F238E27FC236}">
                <a16:creationId xmlns:a16="http://schemas.microsoft.com/office/drawing/2014/main" id="{B8F63656-3D3F-738E-2538-5F25CC2729B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004" y="4819624"/>
            <a:ext cx="7954963" cy="250825"/>
          </a:xfrm>
        </p:spPr>
        <p:txBody>
          <a:bodyPr/>
          <a:lstStyle/>
          <a:p>
            <a:r>
              <a:rPr lang="it-IT" dirty="0"/>
              <a:t>Umberto Della Monica – S.I.D.E.</a:t>
            </a:r>
          </a:p>
        </p:txBody>
      </p:sp>
      <p:pic>
        <p:nvPicPr>
          <p:cNvPr id="5" name="Immagine 4" descr="Immagine che contiene schermata, software, Software multimediale, multimediale&#10;&#10;Il contenuto generato dall'IA potrebbe non essere corretto.">
            <a:extLst>
              <a:ext uri="{FF2B5EF4-FFF2-40B4-BE49-F238E27FC236}">
                <a16:creationId xmlns:a16="http://schemas.microsoft.com/office/drawing/2014/main" id="{AB5D5B4E-D767-3F1E-FAF4-B6949122E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841" y="1492288"/>
            <a:ext cx="5036820" cy="2278249"/>
          </a:xfrm>
          <a:prstGeom prst="rect">
            <a:avLst/>
          </a:prstGeom>
        </p:spPr>
      </p:pic>
      <p:sp>
        <p:nvSpPr>
          <p:cNvPr id="6" name="Sottotitolo 6">
            <a:extLst>
              <a:ext uri="{FF2B5EF4-FFF2-40B4-BE49-F238E27FC236}">
                <a16:creationId xmlns:a16="http://schemas.microsoft.com/office/drawing/2014/main" id="{422300C1-CEDC-3942-A319-AD458285DEFE}"/>
              </a:ext>
            </a:extLst>
          </p:cNvPr>
          <p:cNvSpPr txBox="1">
            <a:spLocks/>
          </p:cNvSpPr>
          <p:nvPr/>
        </p:nvSpPr>
        <p:spPr>
          <a:xfrm>
            <a:off x="3690841" y="3793002"/>
            <a:ext cx="2668374" cy="56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it-IT" i="1" dirty="0"/>
              <a:t>Esempio : Dashboard – S.I.D.E. </a:t>
            </a:r>
          </a:p>
        </p:txBody>
      </p:sp>
    </p:spTree>
    <p:extLst>
      <p:ext uri="{BB962C8B-B14F-4D97-AF65-F5344CB8AC3E}">
        <p14:creationId xmlns:p14="http://schemas.microsoft.com/office/powerpoint/2010/main" val="29423164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96274-8C22-CAC7-7793-E5527112E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olo 23">
            <a:extLst>
              <a:ext uri="{FF2B5EF4-FFF2-40B4-BE49-F238E27FC236}">
                <a16:creationId xmlns:a16="http://schemas.microsoft.com/office/drawing/2014/main" id="{8ADB7791-71C4-CF0A-62CF-25943207D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0814" y="310816"/>
            <a:ext cx="6211715" cy="595800"/>
          </a:xfrm>
        </p:spPr>
        <p:txBody>
          <a:bodyPr/>
          <a:lstStyle/>
          <a:p>
            <a:br>
              <a:rPr lang="en-GB" sz="4400" dirty="0">
                <a:solidFill>
                  <a:srgbClr val="494949"/>
                </a:solidFill>
              </a:rPr>
            </a:br>
            <a:endParaRPr lang="en-US" sz="4400" dirty="0"/>
          </a:p>
        </p:txBody>
      </p:sp>
      <p:sp>
        <p:nvSpPr>
          <p:cNvPr id="14" name="Titolo 23">
            <a:extLst>
              <a:ext uri="{FF2B5EF4-FFF2-40B4-BE49-F238E27FC236}">
                <a16:creationId xmlns:a16="http://schemas.microsoft.com/office/drawing/2014/main" id="{F93F8C78-7F3A-8925-B573-461259E0E8F5}"/>
              </a:ext>
            </a:extLst>
          </p:cNvPr>
          <p:cNvSpPr txBox="1">
            <a:spLocks/>
          </p:cNvSpPr>
          <p:nvPr/>
        </p:nvSpPr>
        <p:spPr>
          <a:xfrm>
            <a:off x="1859280" y="293972"/>
            <a:ext cx="5646745" cy="5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n-US" dirty="0"/>
              <a:t>5 - Front-End – ( side-frontend ) </a:t>
            </a:r>
          </a:p>
          <a:p>
            <a:endParaRPr lang="it-IT" dirty="0"/>
          </a:p>
        </p:txBody>
      </p:sp>
      <p:sp>
        <p:nvSpPr>
          <p:cNvPr id="2" name="Sottotitolo 18">
            <a:extLst>
              <a:ext uri="{FF2B5EF4-FFF2-40B4-BE49-F238E27FC236}">
                <a16:creationId xmlns:a16="http://schemas.microsoft.com/office/drawing/2014/main" id="{AEE4745E-2607-E8AD-E1E5-F0EA50CB78A6}"/>
              </a:ext>
            </a:extLst>
          </p:cNvPr>
          <p:cNvSpPr txBox="1">
            <a:spLocks/>
          </p:cNvSpPr>
          <p:nvPr/>
        </p:nvSpPr>
        <p:spPr>
          <a:xfrm>
            <a:off x="367768" y="1258421"/>
            <a:ext cx="3294008" cy="1542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it-IT" dirty="0"/>
              <a:t>In questa sezione è possibile visualizzare tutti gli eventi che l’IDS riesce a catturare attraverso il traffico dell’Environment.</a:t>
            </a:r>
          </a:p>
          <a:p>
            <a:endParaRPr lang="it-IT" dirty="0"/>
          </a:p>
          <a:p>
            <a:r>
              <a:rPr lang="it-IT" dirty="0"/>
              <a:t>Gli eventi sono categorizzati in base al : </a:t>
            </a:r>
          </a:p>
          <a:p>
            <a:pPr marL="171450" indent="-171450">
              <a:buFontTx/>
              <a:buChar char="-"/>
            </a:pPr>
            <a:r>
              <a:rPr lang="it-IT" b="1" i="1" dirty="0"/>
              <a:t>Protocollo</a:t>
            </a:r>
            <a:r>
              <a:rPr lang="it-IT" dirty="0"/>
              <a:t> </a:t>
            </a:r>
          </a:p>
          <a:p>
            <a:pPr marL="171450" indent="-171450">
              <a:buFontTx/>
              <a:buChar char="-"/>
            </a:pPr>
            <a:r>
              <a:rPr lang="it-IT" dirty="0"/>
              <a:t>Livello di </a:t>
            </a:r>
            <a:r>
              <a:rPr lang="it-IT" b="1" i="1" dirty="0" err="1"/>
              <a:t>Severity</a:t>
            </a:r>
            <a:r>
              <a:rPr lang="it-IT" dirty="0"/>
              <a:t> </a:t>
            </a:r>
          </a:p>
          <a:p>
            <a:endParaRPr lang="it-IT" dirty="0"/>
          </a:p>
        </p:txBody>
      </p:sp>
      <p:sp>
        <p:nvSpPr>
          <p:cNvPr id="3" name="Sottotitolo 12">
            <a:extLst>
              <a:ext uri="{FF2B5EF4-FFF2-40B4-BE49-F238E27FC236}">
                <a16:creationId xmlns:a16="http://schemas.microsoft.com/office/drawing/2014/main" id="{993C05C0-9E12-7BFB-24FF-C9C151FB75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7768" y="983992"/>
            <a:ext cx="2585139" cy="375000"/>
          </a:xfrm>
        </p:spPr>
        <p:txBody>
          <a:bodyPr/>
          <a:lstStyle/>
          <a:p>
            <a:r>
              <a:rPr lang="it-IT" dirty="0"/>
              <a:t>Front-End - /</a:t>
            </a:r>
            <a:r>
              <a:rPr lang="it-IT" dirty="0" err="1"/>
              <a:t>alarms</a:t>
            </a:r>
            <a:endParaRPr lang="it-IT" dirty="0"/>
          </a:p>
        </p:txBody>
      </p:sp>
      <p:sp>
        <p:nvSpPr>
          <p:cNvPr id="10" name="Segnaposto contenuto 12">
            <a:extLst>
              <a:ext uri="{FF2B5EF4-FFF2-40B4-BE49-F238E27FC236}">
                <a16:creationId xmlns:a16="http://schemas.microsoft.com/office/drawing/2014/main" id="{1BF47A58-3EEF-83E5-C231-91F8C812661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004" y="4819624"/>
            <a:ext cx="7954963" cy="250825"/>
          </a:xfrm>
        </p:spPr>
        <p:txBody>
          <a:bodyPr/>
          <a:lstStyle/>
          <a:p>
            <a:r>
              <a:rPr lang="it-IT" dirty="0"/>
              <a:t>Umberto Della Monica – S.I.D.E.</a:t>
            </a:r>
          </a:p>
        </p:txBody>
      </p:sp>
      <p:pic>
        <p:nvPicPr>
          <p:cNvPr id="5" name="Immagine 4" descr="Immagine che contiene software, Software multimediale, Software per la grafica, testo&#10;&#10;Il contenuto generato dall'IA potrebbe non essere corretto.">
            <a:extLst>
              <a:ext uri="{FF2B5EF4-FFF2-40B4-BE49-F238E27FC236}">
                <a16:creationId xmlns:a16="http://schemas.microsoft.com/office/drawing/2014/main" id="{85F8717E-1DA6-174E-DDAC-05EFEBE52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6537" y="1081934"/>
            <a:ext cx="4290467" cy="2163147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4E55529D-4FF0-0973-0D41-327C332FD2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62" y="2817921"/>
            <a:ext cx="3589419" cy="1819961"/>
          </a:xfrm>
          <a:prstGeom prst="rect">
            <a:avLst/>
          </a:prstGeom>
        </p:spPr>
      </p:pic>
      <p:sp>
        <p:nvSpPr>
          <p:cNvPr id="12" name="Sottotitolo 6">
            <a:extLst>
              <a:ext uri="{FF2B5EF4-FFF2-40B4-BE49-F238E27FC236}">
                <a16:creationId xmlns:a16="http://schemas.microsoft.com/office/drawing/2014/main" id="{0F204508-122F-33BA-4B34-1F50955B9FB4}"/>
              </a:ext>
            </a:extLst>
          </p:cNvPr>
          <p:cNvSpPr txBox="1">
            <a:spLocks/>
          </p:cNvSpPr>
          <p:nvPr/>
        </p:nvSpPr>
        <p:spPr>
          <a:xfrm>
            <a:off x="4297942" y="3477077"/>
            <a:ext cx="1882244" cy="25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it-IT" i="1" dirty="0"/>
              <a:t>Esempio : Events – S.I.D.E.  </a:t>
            </a:r>
          </a:p>
        </p:txBody>
      </p:sp>
    </p:spTree>
    <p:extLst>
      <p:ext uri="{BB962C8B-B14F-4D97-AF65-F5344CB8AC3E}">
        <p14:creationId xmlns:p14="http://schemas.microsoft.com/office/powerpoint/2010/main" val="5092125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7941F-6170-E9ED-FD2A-668BD41A0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olo 23">
            <a:extLst>
              <a:ext uri="{FF2B5EF4-FFF2-40B4-BE49-F238E27FC236}">
                <a16:creationId xmlns:a16="http://schemas.microsoft.com/office/drawing/2014/main" id="{2D0DABAC-E75B-B6AD-0B4F-02D249238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0814" y="310816"/>
            <a:ext cx="6211715" cy="595800"/>
          </a:xfrm>
        </p:spPr>
        <p:txBody>
          <a:bodyPr/>
          <a:lstStyle/>
          <a:p>
            <a:br>
              <a:rPr lang="en-GB" sz="4400" dirty="0">
                <a:solidFill>
                  <a:srgbClr val="494949"/>
                </a:solidFill>
              </a:rPr>
            </a:br>
            <a:endParaRPr lang="en-US" sz="4400" dirty="0"/>
          </a:p>
        </p:txBody>
      </p:sp>
      <p:sp>
        <p:nvSpPr>
          <p:cNvPr id="14" name="Titolo 23">
            <a:extLst>
              <a:ext uri="{FF2B5EF4-FFF2-40B4-BE49-F238E27FC236}">
                <a16:creationId xmlns:a16="http://schemas.microsoft.com/office/drawing/2014/main" id="{4ACE2975-ABE7-C842-339F-DD300CDD6888}"/>
              </a:ext>
            </a:extLst>
          </p:cNvPr>
          <p:cNvSpPr txBox="1">
            <a:spLocks/>
          </p:cNvSpPr>
          <p:nvPr/>
        </p:nvSpPr>
        <p:spPr>
          <a:xfrm>
            <a:off x="1859280" y="293972"/>
            <a:ext cx="5646745" cy="5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n-US" dirty="0"/>
              <a:t>5 - Front-End – ( side-frontend ) </a:t>
            </a:r>
          </a:p>
          <a:p>
            <a:endParaRPr lang="it-IT" dirty="0"/>
          </a:p>
        </p:txBody>
      </p:sp>
      <p:sp>
        <p:nvSpPr>
          <p:cNvPr id="2" name="Sottotitolo 18">
            <a:extLst>
              <a:ext uri="{FF2B5EF4-FFF2-40B4-BE49-F238E27FC236}">
                <a16:creationId xmlns:a16="http://schemas.microsoft.com/office/drawing/2014/main" id="{43F7B23C-5D5F-09ED-F1D7-3DBF9C30E3A9}"/>
              </a:ext>
            </a:extLst>
          </p:cNvPr>
          <p:cNvSpPr txBox="1">
            <a:spLocks/>
          </p:cNvSpPr>
          <p:nvPr/>
        </p:nvSpPr>
        <p:spPr>
          <a:xfrm>
            <a:off x="150231" y="1373159"/>
            <a:ext cx="3212887" cy="2523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it-IT" dirty="0"/>
              <a:t>Questa sezione permette all’operatore SCADA di verificare tutti i dispositivi online e offline.</a:t>
            </a:r>
          </a:p>
          <a:p>
            <a:endParaRPr lang="it-IT" dirty="0"/>
          </a:p>
          <a:p>
            <a:r>
              <a:rPr lang="it-IT" dirty="0"/>
              <a:t>Vengono visualizzate anche le informazioni generali su Indirizzo IP e la porta del processo del device simulato</a:t>
            </a:r>
          </a:p>
          <a:p>
            <a:endParaRPr lang="it-IT" dirty="0"/>
          </a:p>
          <a:p>
            <a:r>
              <a:rPr lang="it-IT" dirty="0"/>
              <a:t>Il filtraggio dei device viene fatto per protocollo.</a:t>
            </a:r>
          </a:p>
          <a:p>
            <a:endParaRPr lang="it-IT" dirty="0"/>
          </a:p>
          <a:p>
            <a:r>
              <a:rPr lang="it-IT" dirty="0"/>
              <a:t>L’aggiornamento avviene ogni volta che l’IDS individua un nuovo device o un evento di Warning </a:t>
            </a:r>
          </a:p>
        </p:txBody>
      </p:sp>
      <p:sp>
        <p:nvSpPr>
          <p:cNvPr id="3" name="Sottotitolo 12">
            <a:extLst>
              <a:ext uri="{FF2B5EF4-FFF2-40B4-BE49-F238E27FC236}">
                <a16:creationId xmlns:a16="http://schemas.microsoft.com/office/drawing/2014/main" id="{3C02D194-567F-D0B1-5E40-8277FBA400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8245" y="1066353"/>
            <a:ext cx="2585139" cy="375000"/>
          </a:xfrm>
        </p:spPr>
        <p:txBody>
          <a:bodyPr/>
          <a:lstStyle/>
          <a:p>
            <a:r>
              <a:rPr lang="it-IT" dirty="0"/>
              <a:t>Front-End - /devices</a:t>
            </a:r>
          </a:p>
        </p:txBody>
      </p:sp>
      <p:sp>
        <p:nvSpPr>
          <p:cNvPr id="10" name="Segnaposto contenuto 12">
            <a:extLst>
              <a:ext uri="{FF2B5EF4-FFF2-40B4-BE49-F238E27FC236}">
                <a16:creationId xmlns:a16="http://schemas.microsoft.com/office/drawing/2014/main" id="{0FA6BE14-8B4B-3847-9BD6-3029A45DD62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004" y="4819624"/>
            <a:ext cx="7954963" cy="250825"/>
          </a:xfrm>
        </p:spPr>
        <p:txBody>
          <a:bodyPr/>
          <a:lstStyle/>
          <a:p>
            <a:r>
              <a:rPr lang="it-IT" dirty="0"/>
              <a:t>Umberto Della Monica – S.I.D.E.</a:t>
            </a:r>
          </a:p>
        </p:txBody>
      </p:sp>
      <p:pic>
        <p:nvPicPr>
          <p:cNvPr id="5" name="Immagine 4" descr="Immagine che contiene testo, schermata, software, multimediale&#10;&#10;Il contenuto generato dall'IA potrebbe non essere corretto.">
            <a:extLst>
              <a:ext uri="{FF2B5EF4-FFF2-40B4-BE49-F238E27FC236}">
                <a16:creationId xmlns:a16="http://schemas.microsoft.com/office/drawing/2014/main" id="{ED2B1A02-FE37-0A04-580B-821C5318C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1364" y="1441353"/>
            <a:ext cx="5572636" cy="2523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5628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88757-2288-1E37-328E-6F9ABF7C3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olo 23">
            <a:extLst>
              <a:ext uri="{FF2B5EF4-FFF2-40B4-BE49-F238E27FC236}">
                <a16:creationId xmlns:a16="http://schemas.microsoft.com/office/drawing/2014/main" id="{29007553-8E17-FA15-B208-5D5F29818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GB" sz="4400" dirty="0">
                <a:solidFill>
                  <a:srgbClr val="494949"/>
                </a:solidFill>
              </a:rPr>
            </a:br>
            <a:endParaRPr lang="en-US" sz="4400" dirty="0"/>
          </a:p>
        </p:txBody>
      </p:sp>
      <p:sp>
        <p:nvSpPr>
          <p:cNvPr id="21" name="Sottotitolo 20">
            <a:extLst>
              <a:ext uri="{FF2B5EF4-FFF2-40B4-BE49-F238E27FC236}">
                <a16:creationId xmlns:a16="http://schemas.microsoft.com/office/drawing/2014/main" id="{66813667-5A02-810E-074E-FEC97E9D0E1D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3556518" y="1063518"/>
            <a:ext cx="2553331" cy="375001"/>
          </a:xfrm>
        </p:spPr>
        <p:txBody>
          <a:bodyPr/>
          <a:lstStyle/>
          <a:p>
            <a:r>
              <a:rPr lang="it-IT" dirty="0"/>
              <a:t>Aggiornamento Dataset – Aggiornamento ML </a:t>
            </a:r>
          </a:p>
        </p:txBody>
      </p:sp>
      <p:sp>
        <p:nvSpPr>
          <p:cNvPr id="22" name="Sottotitolo 21">
            <a:extLst>
              <a:ext uri="{FF2B5EF4-FFF2-40B4-BE49-F238E27FC236}">
                <a16:creationId xmlns:a16="http://schemas.microsoft.com/office/drawing/2014/main" id="{5DF02132-91C1-0106-70EF-16B5A8CF7F57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3556518" y="1584189"/>
            <a:ext cx="2801974" cy="1224946"/>
          </a:xfrm>
        </p:spPr>
        <p:txBody>
          <a:bodyPr/>
          <a:lstStyle/>
          <a:p>
            <a:r>
              <a:rPr lang="it-IT" dirty="0"/>
              <a:t>Aggiungere eventuali dati di attacchi e maggiori informazioni ai modelli di machine learning per avere maggiore affidabilità sull’individuazione di un’anomalia</a:t>
            </a:r>
          </a:p>
        </p:txBody>
      </p:sp>
      <p:sp>
        <p:nvSpPr>
          <p:cNvPr id="23" name="Sottotitolo 22">
            <a:extLst>
              <a:ext uri="{FF2B5EF4-FFF2-40B4-BE49-F238E27FC236}">
                <a16:creationId xmlns:a16="http://schemas.microsoft.com/office/drawing/2014/main" id="{FB69FB5F-86E4-D9BC-1761-CC147E98517E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596175" y="1209189"/>
            <a:ext cx="1945200" cy="375000"/>
          </a:xfrm>
        </p:spPr>
        <p:txBody>
          <a:bodyPr/>
          <a:lstStyle/>
          <a:p>
            <a:r>
              <a:rPr lang="it-IT" dirty="0"/>
              <a:t>Utilizzo di Docker Container</a:t>
            </a:r>
          </a:p>
        </p:txBody>
      </p:sp>
      <p:sp>
        <p:nvSpPr>
          <p:cNvPr id="25" name="Sottotitolo 24">
            <a:extLst>
              <a:ext uri="{FF2B5EF4-FFF2-40B4-BE49-F238E27FC236}">
                <a16:creationId xmlns:a16="http://schemas.microsoft.com/office/drawing/2014/main" id="{460F3CD7-C384-1004-662E-99755BD9A4E9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596175" y="1657092"/>
            <a:ext cx="2189335" cy="1043436"/>
          </a:xfrm>
        </p:spPr>
        <p:txBody>
          <a:bodyPr/>
          <a:lstStyle/>
          <a:p>
            <a:r>
              <a:rPr lang="it-IT" dirty="0"/>
              <a:t>Attraverso singoli container è possibile perfezionare ancora di più il nostro ambiente simulato rendendo ogni protocollo indipendente.</a:t>
            </a:r>
          </a:p>
        </p:txBody>
      </p:sp>
      <p:sp>
        <p:nvSpPr>
          <p:cNvPr id="26" name="Sottotitolo 25">
            <a:extLst>
              <a:ext uri="{FF2B5EF4-FFF2-40B4-BE49-F238E27FC236}">
                <a16:creationId xmlns:a16="http://schemas.microsoft.com/office/drawing/2014/main" id="{63D484B7-662C-0675-F173-1C263302C091}"/>
              </a:ext>
            </a:extLst>
          </p:cNvPr>
          <p:cNvSpPr>
            <a:spLocks noGrp="1"/>
          </p:cNvSpPr>
          <p:nvPr>
            <p:ph type="subTitle" idx="7"/>
          </p:nvPr>
        </p:nvSpPr>
        <p:spPr>
          <a:xfrm>
            <a:off x="6644421" y="1209189"/>
            <a:ext cx="2189336" cy="375000"/>
          </a:xfrm>
        </p:spPr>
        <p:txBody>
          <a:bodyPr/>
          <a:lstStyle/>
          <a:p>
            <a:r>
              <a:rPr lang="it-IT" dirty="0"/>
              <a:t>Aggiornamento Front-End </a:t>
            </a:r>
          </a:p>
        </p:txBody>
      </p:sp>
      <p:sp>
        <p:nvSpPr>
          <p:cNvPr id="27" name="Sottotitolo 26">
            <a:extLst>
              <a:ext uri="{FF2B5EF4-FFF2-40B4-BE49-F238E27FC236}">
                <a16:creationId xmlns:a16="http://schemas.microsoft.com/office/drawing/2014/main" id="{97E5B77F-479A-330E-02FC-53AA399FEF76}"/>
              </a:ext>
            </a:extLst>
          </p:cNvPr>
          <p:cNvSpPr>
            <a:spLocks noGrp="1"/>
          </p:cNvSpPr>
          <p:nvPr>
            <p:ph type="subTitle" idx="8"/>
          </p:nvPr>
        </p:nvSpPr>
        <p:spPr>
          <a:xfrm>
            <a:off x="6644422" y="1657092"/>
            <a:ext cx="2189335" cy="1371981"/>
          </a:xfrm>
        </p:spPr>
        <p:txBody>
          <a:bodyPr/>
          <a:lstStyle/>
          <a:p>
            <a:r>
              <a:rPr lang="it-IT" dirty="0"/>
              <a:t>Utilizzo del Front-End non solo per la visualizzazione della Topologia dei Device ma anche per l’eventuale attacco che si può fare su di esso </a:t>
            </a:r>
          </a:p>
        </p:txBody>
      </p:sp>
      <p:sp>
        <p:nvSpPr>
          <p:cNvPr id="28" name="Segnaposto contenuto 27">
            <a:extLst>
              <a:ext uri="{FF2B5EF4-FFF2-40B4-BE49-F238E27FC236}">
                <a16:creationId xmlns:a16="http://schemas.microsoft.com/office/drawing/2014/main" id="{B28E588F-B547-20FD-FA03-8D25B003008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it-IT" dirty="0"/>
              <a:t>Umberto Della Monica – S.I.D.E.</a:t>
            </a:r>
          </a:p>
        </p:txBody>
      </p:sp>
      <p:sp>
        <p:nvSpPr>
          <p:cNvPr id="14" name="Titolo 23">
            <a:extLst>
              <a:ext uri="{FF2B5EF4-FFF2-40B4-BE49-F238E27FC236}">
                <a16:creationId xmlns:a16="http://schemas.microsoft.com/office/drawing/2014/main" id="{76A40DE3-A0EF-421B-A86A-A5FA3DFF2AEA}"/>
              </a:ext>
            </a:extLst>
          </p:cNvPr>
          <p:cNvSpPr txBox="1">
            <a:spLocks/>
          </p:cNvSpPr>
          <p:nvPr/>
        </p:nvSpPr>
        <p:spPr>
          <a:xfrm>
            <a:off x="1859280" y="293972"/>
            <a:ext cx="5646745" cy="5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it-IT" dirty="0"/>
              <a:t>6 - Sviluppi Futuri</a:t>
            </a:r>
          </a:p>
          <a:p>
            <a:endParaRPr lang="it-IT" dirty="0"/>
          </a:p>
        </p:txBody>
      </p:sp>
      <p:pic>
        <p:nvPicPr>
          <p:cNvPr id="7170" name="Picture 2" descr="SCADA/HMI – Demo applications &amp; examples">
            <a:extLst>
              <a:ext uri="{FF2B5EF4-FFF2-40B4-BE49-F238E27FC236}">
                <a16:creationId xmlns:a16="http://schemas.microsoft.com/office/drawing/2014/main" id="{32C4C119-D05D-FBCA-CAB0-0A250FB677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9737" y="2838467"/>
            <a:ext cx="2189335" cy="1493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Cos'è un server di database? | OVHcloud Italia">
            <a:extLst>
              <a:ext uri="{FF2B5EF4-FFF2-40B4-BE49-F238E27FC236}">
                <a16:creationId xmlns:a16="http://schemas.microsoft.com/office/drawing/2014/main" id="{25CB9FAB-6E82-1423-A879-B6C5CBB1C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3217" y="2708539"/>
            <a:ext cx="1959429" cy="1306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Docker - Quick start guide | Packagecloud Blog">
            <a:extLst>
              <a:ext uri="{FF2B5EF4-FFF2-40B4-BE49-F238E27FC236}">
                <a16:creationId xmlns:a16="http://schemas.microsoft.com/office/drawing/2014/main" id="{A24778DE-7C2F-76F6-278B-9198A17B2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34" y="2709365"/>
            <a:ext cx="2177682" cy="1224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12752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B7E33-F13C-638C-5D68-E42AC510A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11BBEA-1D77-3858-3556-749C124AD5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682" y="2068875"/>
            <a:ext cx="8596635" cy="1005750"/>
          </a:xfrm>
        </p:spPr>
        <p:txBody>
          <a:bodyPr/>
          <a:lstStyle/>
          <a:p>
            <a:pPr algn="l"/>
            <a:r>
              <a:rPr lang="it-IT" sz="3600" dirty="0"/>
              <a:t>Grazie</a:t>
            </a:r>
          </a:p>
        </p:txBody>
      </p:sp>
      <p:sp>
        <p:nvSpPr>
          <p:cNvPr id="5" name="Sottotitolo 18">
            <a:extLst>
              <a:ext uri="{FF2B5EF4-FFF2-40B4-BE49-F238E27FC236}">
                <a16:creationId xmlns:a16="http://schemas.microsoft.com/office/drawing/2014/main" id="{F7510585-4B10-5544-A609-27944889990B}"/>
              </a:ext>
            </a:extLst>
          </p:cNvPr>
          <p:cNvSpPr txBox="1">
            <a:spLocks/>
          </p:cNvSpPr>
          <p:nvPr/>
        </p:nvSpPr>
        <p:spPr>
          <a:xfrm>
            <a:off x="273682" y="3150537"/>
            <a:ext cx="3212887" cy="354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it-IT" sz="1600" dirty="0"/>
              <a:t>Umberto Della Monica</a:t>
            </a:r>
          </a:p>
        </p:txBody>
      </p:sp>
    </p:spTree>
    <p:extLst>
      <p:ext uri="{BB962C8B-B14F-4D97-AF65-F5344CB8AC3E}">
        <p14:creationId xmlns:p14="http://schemas.microsoft.com/office/powerpoint/2010/main" val="1592145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Prototipo_template_v3 1" id="{545D98E1-A687-4846-92BD-1CC906DD85B2}" vid="{F4B8C2FE-01CF-B841-AFB1-A863E03FAAA3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12456</TotalTime>
  <Words>1988</Words>
  <Application>Microsoft Office PowerPoint</Application>
  <PresentationFormat>Presentazione su schermo (16:9)</PresentationFormat>
  <Paragraphs>237</Paragraphs>
  <Slides>21</Slides>
  <Notes>16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21</vt:i4>
      </vt:variant>
    </vt:vector>
  </HeadingPairs>
  <TitlesOfParts>
    <vt:vector size="28" baseType="lpstr">
      <vt:lpstr>Barlow Semi Condensed Medium</vt:lpstr>
      <vt:lpstr>Aptos</vt:lpstr>
      <vt:lpstr>Arial</vt:lpstr>
      <vt:lpstr>Barlow Semi Condensed</vt:lpstr>
      <vt:lpstr>Fjalla One</vt:lpstr>
      <vt:lpstr>DM Sans</vt:lpstr>
      <vt:lpstr>Technology Consulting by Slidesgo</vt:lpstr>
      <vt:lpstr>Penetration Testing and Ethical Hacking:  S.I.D.E.  ( Scada Intrusion Detection Environment )</vt:lpstr>
      <vt:lpstr>Tabella Dei Contenuti</vt:lpstr>
      <vt:lpstr>1 - Why S.I.D.E. ?</vt:lpstr>
      <vt:lpstr> </vt:lpstr>
      <vt:lpstr>3 - S.I.D.E – Architettura Proposta</vt:lpstr>
      <vt:lpstr>4 - S.I.D.E – Protocolli </vt:lpstr>
      <vt:lpstr>4 - S.I.D.E – Protocolli </vt:lpstr>
      <vt:lpstr>4 - S.I.D.E – Protocolli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Grazie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FRANCO CIRILLO</dc:creator>
  <cp:lastModifiedBy>UMBERTO DELLA MONICA</cp:lastModifiedBy>
  <cp:revision>498</cp:revision>
  <dcterms:modified xsi:type="dcterms:W3CDTF">2025-11-09T16:52:52Z</dcterms:modified>
</cp:coreProperties>
</file>